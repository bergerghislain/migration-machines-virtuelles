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904DBC1-AE0E-4C35-B51B-1BE668DFA8B6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28A23B9-F8DF-4A9E-879B-CAA7CC27DCDC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E7E37C-FF3F-4CB4-980D-A70464A92173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4C33855-1F49-4691-9181-C433E422DBB5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E03C756-8FA9-4E5F-8481-1DCE5F4833B5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DB45BEA-E8F3-43D2-81FF-41A6BC28F415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9B51FD6-159A-4CF7-83BC-B47F89E5029D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D05FCE5-1699-4461-9F3D-0D2405C0A379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E302F0A-E9EA-4AB8-8A5F-588EBCDBF754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9C5E153-AC1B-4582-9435-A56139D8DE29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50A0882-BB1C-4592-8AEC-0D6DDD15A1EB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2861732-A958-420B-A87F-ABD5DE8184CA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55A8F6-8DFA-4289-A7D9-BA024ABC2857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33FBBFB-9410-4AC9-ADD4-59045D8FEA05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9D23E4F-0797-4CBB-A0FE-52D518B07AA3}" type="slidenum">
              <a:rPr b="0" lang="en-US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45;p1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46;p12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Google Shape;47;p12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9;p1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Google Shape;50;p13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Google Shape;51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53;p1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Google Shape;54;p14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Google Shape;55;p14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57;p1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Google Shape;58;p15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Google Shape;59;p15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61;p16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Google Shape;62;p16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Google Shape;63;p1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65;p17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Google Shape;66;p17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Google Shape;67;p17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69;p18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Google Shape;70;p18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Google Shape;71;p18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73;p19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4f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Google Shape;74;p19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bfa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9" name="Google Shape;75;p19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73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7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slideLayout" Target="../slideLayouts/slideLayout85.xml"/><Relationship Id="rId10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85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82;p21"/>
          <p:cNvSpPr/>
          <p:nvPr/>
        </p:nvSpPr>
        <p:spPr>
          <a:xfrm>
            <a:off x="793800" y="163008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44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  </a:t>
            </a:r>
            <a:r>
              <a:rPr b="0" lang="en-US" sz="44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Vérification &amp; Implementation de la Migration Extra-Clusters</a:t>
            </a:r>
            <a:endParaRPr b="0" lang="fr-FR" sz="4450" spc="-1" strike="noStrike">
              <a:latin typeface="Arial"/>
            </a:endParaRPr>
          </a:p>
        </p:txBody>
      </p:sp>
      <p:sp>
        <p:nvSpPr>
          <p:cNvPr id="335" name="Google Shape;83;p21"/>
          <p:cNvSpPr/>
          <p:nvPr/>
        </p:nvSpPr>
        <p:spPr>
          <a:xfrm>
            <a:off x="793800" y="3387600"/>
            <a:ext cx="77688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Intégration avancée de Xen/OpenStack sur Grid'5000</a:t>
            </a:r>
            <a:endParaRPr b="0" lang="fr-FR" sz="2200" spc="-1" strike="noStrike">
              <a:latin typeface="Arial"/>
            </a:endParaRPr>
          </a:p>
        </p:txBody>
      </p:sp>
      <p:sp>
        <p:nvSpPr>
          <p:cNvPr id="336" name="Google Shape;84;p21"/>
          <p:cNvSpPr/>
          <p:nvPr/>
        </p:nvSpPr>
        <p:spPr>
          <a:xfrm>
            <a:off x="793800" y="40820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49495a"/>
                </a:solidFill>
                <a:latin typeface="Open Sans"/>
                <a:ea typeface="Open Sans"/>
              </a:rPr>
              <a:t>Points clés :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337" name="Google Shape;85;p21"/>
          <p:cNvSpPr/>
          <p:nvPr/>
        </p:nvSpPr>
        <p:spPr>
          <a:xfrm>
            <a:off x="793800" y="470016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750" spc="-1" strike="noStrike">
                <a:solidFill>
                  <a:srgbClr val="49495a"/>
                </a:solidFill>
                <a:latin typeface="Open Sans"/>
                <a:ea typeface="Open Sans"/>
              </a:rPr>
              <a:t>Migration intra-cluster déjà validée, passage aux migrations entre clusters.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338" name="Google Shape;86;p21"/>
          <p:cNvSpPr/>
          <p:nvPr/>
        </p:nvSpPr>
        <p:spPr>
          <a:xfrm>
            <a:off x="793800" y="514260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750" spc="-1" strike="noStrike">
                <a:solidFill>
                  <a:srgbClr val="49495a"/>
                </a:solidFill>
                <a:latin typeface="Open Sans"/>
                <a:ea typeface="Open Sans"/>
              </a:rPr>
              <a:t>Environnement Grid'5000 : clusters (econome, ecotype) sur un même site (ex. Nantes) mais réseaux distincts par défaut.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339" name="Google Shape;87;p21"/>
          <p:cNvSpPr/>
          <p:nvPr/>
        </p:nvSpPr>
        <p:spPr>
          <a:xfrm>
            <a:off x="793800" y="558468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750" spc="-1" strike="noStrike">
                <a:solidFill>
                  <a:srgbClr val="49495a"/>
                </a:solidFill>
                <a:latin typeface="Open Sans"/>
                <a:ea typeface="Open Sans"/>
              </a:rPr>
              <a:t>Importance de vérifier réseau, stockage et compatibilité Xen.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340" name="Google Shape;88;p21"/>
          <p:cNvSpPr/>
          <p:nvPr/>
        </p:nvSpPr>
        <p:spPr>
          <a:xfrm>
            <a:off x="1270080" y="6202800"/>
            <a:ext cx="31255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49495a"/>
                </a:solidFill>
                <a:latin typeface="Open Sans"/>
                <a:ea typeface="Open Sans"/>
              </a:rPr>
              <a:t>par Ghislain THEUBO</a:t>
            </a:r>
            <a:endParaRPr b="0" lang="fr-F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94;p22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42" name="Google Shape;95;p22"/>
          <p:cNvSpPr/>
          <p:nvPr/>
        </p:nvSpPr>
        <p:spPr>
          <a:xfrm>
            <a:off x="695160" y="705240"/>
            <a:ext cx="7752960" cy="12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390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Objectifs et Contexte Extra-Clusters</a:t>
            </a:r>
            <a:endParaRPr b="0" lang="fr-FR" sz="3900" spc="-1" strike="noStrike">
              <a:latin typeface="Arial"/>
            </a:endParaRPr>
          </a:p>
        </p:txBody>
      </p:sp>
      <p:sp>
        <p:nvSpPr>
          <p:cNvPr id="343" name="Google Shape;96;p22"/>
          <p:cNvSpPr/>
          <p:nvPr/>
        </p:nvSpPr>
        <p:spPr>
          <a:xfrm>
            <a:off x="695160" y="2468520"/>
            <a:ext cx="446760" cy="44676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44" name="Google Shape;97;p22" descr="preencoded.png"/>
          <p:cNvPicPr/>
          <p:nvPr/>
        </p:nvPicPr>
        <p:blipFill>
          <a:blip r:embed="rId2"/>
          <a:stretch/>
        </p:blipFill>
        <p:spPr>
          <a:xfrm>
            <a:off x="769680" y="2505600"/>
            <a:ext cx="297720" cy="372240"/>
          </a:xfrm>
          <a:prstGeom prst="rect">
            <a:avLst/>
          </a:prstGeom>
          <a:ln w="0">
            <a:noFill/>
          </a:ln>
        </p:spPr>
      </p:pic>
      <p:sp>
        <p:nvSpPr>
          <p:cNvPr id="345" name="Google Shape;98;p22"/>
          <p:cNvSpPr/>
          <p:nvPr/>
        </p:nvSpPr>
        <p:spPr>
          <a:xfrm>
            <a:off x="1341000" y="2468520"/>
            <a:ext cx="2482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Objectifs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346" name="Google Shape;99;p22"/>
          <p:cNvSpPr/>
          <p:nvPr/>
        </p:nvSpPr>
        <p:spPr>
          <a:xfrm>
            <a:off x="1341000" y="2898000"/>
            <a:ext cx="7107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Valider la faisabilité de migrations extra-clusters.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47" name="Google Shape;100;p22"/>
          <p:cNvSpPr/>
          <p:nvPr/>
        </p:nvSpPr>
        <p:spPr>
          <a:xfrm>
            <a:off x="1341000" y="3335040"/>
            <a:ext cx="7107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Raffiner l'intégration de Xen dans OpenStack pour ces cas.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48" name="Google Shape;101;p22"/>
          <p:cNvSpPr/>
          <p:nvPr/>
        </p:nvSpPr>
        <p:spPr>
          <a:xfrm>
            <a:off x="1341000" y="3772080"/>
            <a:ext cx="7107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S'assurer que la documentation et l'évolution (CSV/JSON) sont cohérentes avec les exigences.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49" name="Google Shape;102;p22"/>
          <p:cNvSpPr/>
          <p:nvPr/>
        </p:nvSpPr>
        <p:spPr>
          <a:xfrm>
            <a:off x="695160" y="4830120"/>
            <a:ext cx="446760" cy="446760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50" name="Google Shape;103;p22" descr="preencoded.png"/>
          <p:cNvPicPr/>
          <p:nvPr/>
        </p:nvPicPr>
        <p:blipFill>
          <a:blip r:embed="rId3"/>
          <a:stretch/>
        </p:blipFill>
        <p:spPr>
          <a:xfrm>
            <a:off x="769680" y="4867200"/>
            <a:ext cx="297720" cy="372240"/>
          </a:xfrm>
          <a:prstGeom prst="rect">
            <a:avLst/>
          </a:prstGeom>
          <a:ln w="0">
            <a:noFill/>
          </a:ln>
        </p:spPr>
      </p:pic>
      <p:sp>
        <p:nvSpPr>
          <p:cNvPr id="351" name="Google Shape;104;p22"/>
          <p:cNvSpPr/>
          <p:nvPr/>
        </p:nvSpPr>
        <p:spPr>
          <a:xfrm>
            <a:off x="1341000" y="4830120"/>
            <a:ext cx="24915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9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Contexte technique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352" name="Google Shape;105;p22"/>
          <p:cNvSpPr/>
          <p:nvPr/>
        </p:nvSpPr>
        <p:spPr>
          <a:xfrm>
            <a:off x="1341000" y="5259600"/>
            <a:ext cx="7107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OpenStack</a:t>
            </a: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 déployé sur chaque nœud (contrôleur &amp; compute)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53" name="Google Shape;106;p22"/>
          <p:cNvSpPr/>
          <p:nvPr/>
        </p:nvSpPr>
        <p:spPr>
          <a:xfrm>
            <a:off x="1341000" y="5696640"/>
            <a:ext cx="7107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Xen</a:t>
            </a: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 comme hyperviseur (via XenAPI, exigences strictes de paravirtualisation)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54" name="Google Shape;107;p22"/>
          <p:cNvSpPr/>
          <p:nvPr/>
        </p:nvSpPr>
        <p:spPr>
          <a:xfrm>
            <a:off x="1341000" y="6133680"/>
            <a:ext cx="7107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Grid'5000</a:t>
            </a: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 : machines réparties sur plusieurs clusters/sites avec possibilité de réserver un VLAN via KaVLAN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55" name="Google Shape;108;p22"/>
          <p:cNvSpPr/>
          <p:nvPr/>
        </p:nvSpPr>
        <p:spPr>
          <a:xfrm>
            <a:off x="1341000" y="6888600"/>
            <a:ext cx="7107480" cy="63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1000"/>
              </a:lnSpc>
              <a:buNone/>
              <a:tabLst>
                <a:tab algn="l" pos="0"/>
              </a:tabLst>
            </a:pPr>
            <a:r>
              <a:rPr b="1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Stockage</a:t>
            </a:r>
            <a:r>
              <a:rPr b="0" lang="en-US" sz="1550" spc="-1" strike="noStrike">
                <a:solidFill>
                  <a:srgbClr val="49495a"/>
                </a:solidFill>
                <a:latin typeface="Open Sans"/>
                <a:ea typeface="Open Sans"/>
              </a:rPr>
              <a:t> : Passage d'un stockage local à un stockage partagé (NFS ou Block migration) si nécessaire</a:t>
            </a:r>
            <a:endParaRPr b="0" lang="fr-FR" sz="1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114;p23"/>
          <p:cNvSpPr/>
          <p:nvPr/>
        </p:nvSpPr>
        <p:spPr>
          <a:xfrm>
            <a:off x="566280" y="444960"/>
            <a:ext cx="9739800" cy="5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31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Contraintes Réseau &amp; Stockage dans Grid'5000</a:t>
            </a:r>
            <a:endParaRPr b="0" lang="fr-FR" sz="3150" spc="-1" strike="noStrike">
              <a:latin typeface="Arial"/>
            </a:endParaRPr>
          </a:p>
        </p:txBody>
      </p:sp>
      <p:sp>
        <p:nvSpPr>
          <p:cNvPr id="357" name="Google Shape;115;p23"/>
          <p:cNvSpPr/>
          <p:nvPr/>
        </p:nvSpPr>
        <p:spPr>
          <a:xfrm>
            <a:off x="566280" y="1354680"/>
            <a:ext cx="20217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Réseau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58" name="Google Shape;116;p23"/>
          <p:cNvSpPr/>
          <p:nvPr/>
        </p:nvSpPr>
        <p:spPr>
          <a:xfrm>
            <a:off x="566280" y="176904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Problème :</a:t>
            </a: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 Les clusters d'un même site ne partagent pas toujours le même sous-réseau.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59" name="Google Shape;117;p23"/>
          <p:cNvSpPr/>
          <p:nvPr/>
        </p:nvSpPr>
        <p:spPr>
          <a:xfrm>
            <a:off x="566280" y="243216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Solution :</a:t>
            </a: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 Réserver un VLAN dédié (KaVLAN) pour regrouper les nœuds de clusters différents dans un même domaine de diffusion.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0" name="Google Shape;118;p23"/>
          <p:cNvSpPr/>
          <p:nvPr/>
        </p:nvSpPr>
        <p:spPr>
          <a:xfrm>
            <a:off x="566280" y="3095280"/>
            <a:ext cx="65512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Commandes de vérification :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1" name="Google Shape;119;p23"/>
          <p:cNvSpPr/>
          <p:nvPr/>
        </p:nvSpPr>
        <p:spPr>
          <a:xfrm>
            <a:off x="566280" y="3499560"/>
            <a:ext cx="65512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openstack network list --long | grep -E "Nantes|Name"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2" name="Google Shape;120;p23"/>
          <p:cNvSpPr/>
          <p:nvPr/>
        </p:nvSpPr>
        <p:spPr>
          <a:xfrm>
            <a:off x="566280" y="3815280"/>
            <a:ext cx="65512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openstack subnet list --long | grep "Nantes"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3" name="Google Shape;121;p23"/>
          <p:cNvSpPr/>
          <p:nvPr/>
        </p:nvSpPr>
        <p:spPr>
          <a:xfrm>
            <a:off x="566280" y="413064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Vérifier la connectivité avec des tests ping et router (ex. openstack router show &lt;router_id&gt; -c routes).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4" name="Google Shape;122;p23"/>
          <p:cNvSpPr/>
          <p:nvPr/>
        </p:nvSpPr>
        <p:spPr>
          <a:xfrm>
            <a:off x="7520040" y="1354680"/>
            <a:ext cx="202176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Stockage</a:t>
            </a:r>
            <a:endParaRPr b="0" lang="fr-FR" sz="1550" spc="-1" strike="noStrike">
              <a:latin typeface="Arial"/>
            </a:endParaRPr>
          </a:p>
        </p:txBody>
      </p:sp>
      <p:sp>
        <p:nvSpPr>
          <p:cNvPr id="365" name="Google Shape;123;p23"/>
          <p:cNvSpPr/>
          <p:nvPr/>
        </p:nvSpPr>
        <p:spPr>
          <a:xfrm>
            <a:off x="7520040" y="176904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Problème :</a:t>
            </a: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 Stockage local par défaut – aucune mise en commun automatique entre clusters.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6" name="Google Shape;124;p23"/>
          <p:cNvSpPr/>
          <p:nvPr/>
        </p:nvSpPr>
        <p:spPr>
          <a:xfrm>
            <a:off x="7520040" y="243216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Solution :</a:t>
            </a: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 Configurer un espace partagé via NFS ou un système de block migration si stockage partagé absent.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67" name="Google Shape;125;p23"/>
          <p:cNvSpPr/>
          <p:nvPr/>
        </p:nvSpPr>
        <p:spPr>
          <a:xfrm>
            <a:off x="7520040" y="3095280"/>
            <a:ext cx="65512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Important :</a:t>
            </a:r>
            <a:r>
              <a:rPr b="0" lang="en-US" sz="1250" spc="-1" strike="noStrike">
                <a:solidFill>
                  <a:srgbClr val="49495a"/>
                </a:solidFill>
                <a:latin typeface="Open Sans"/>
                <a:ea typeface="Open Sans"/>
              </a:rPr>
              <a:t> Vérifier la compatibilité via JSON (inclure détails de stockage dans le fichier de règles).</a:t>
            </a:r>
            <a:endParaRPr b="0" lang="fr-FR" sz="1250" spc="-1" strike="noStrike">
              <a:latin typeface="Arial"/>
            </a:endParaRPr>
          </a:p>
        </p:txBody>
      </p:sp>
      <p:pic>
        <p:nvPicPr>
          <p:cNvPr id="368" name="Google Shape;126;p23" descr="preencoded.png"/>
          <p:cNvPicPr/>
          <p:nvPr/>
        </p:nvPicPr>
        <p:blipFill>
          <a:blip r:embed="rId1"/>
          <a:stretch/>
        </p:blipFill>
        <p:spPr>
          <a:xfrm>
            <a:off x="7520040" y="3795120"/>
            <a:ext cx="6551280" cy="448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132;p24" descr=""/>
          <p:cNvPicPr/>
          <p:nvPr/>
        </p:nvPicPr>
        <p:blipFill>
          <a:blip r:embed="rId1"/>
          <a:stretch/>
        </p:blipFill>
        <p:spPr>
          <a:xfrm>
            <a:off x="2030040" y="430560"/>
            <a:ext cx="944244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138;p25"/>
          <p:cNvSpPr/>
          <p:nvPr/>
        </p:nvSpPr>
        <p:spPr>
          <a:xfrm>
            <a:off x="730800" y="574200"/>
            <a:ext cx="13168080" cy="13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410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Vérifications Réseau et Compatibilité Extra-Clusters</a:t>
            </a:r>
            <a:endParaRPr b="0" lang="fr-FR" sz="4100" spc="-1" strike="noStrike">
              <a:latin typeface="Arial"/>
            </a:endParaRPr>
          </a:p>
        </p:txBody>
      </p:sp>
      <p:pic>
        <p:nvPicPr>
          <p:cNvPr id="371" name="Google Shape;139;p25" descr="preencoded.png"/>
          <p:cNvPicPr/>
          <p:nvPr/>
        </p:nvPicPr>
        <p:blipFill>
          <a:blip r:embed="rId1"/>
          <a:stretch/>
        </p:blipFill>
        <p:spPr>
          <a:xfrm>
            <a:off x="730800" y="2297160"/>
            <a:ext cx="1043640" cy="3342960"/>
          </a:xfrm>
          <a:prstGeom prst="rect">
            <a:avLst/>
          </a:prstGeom>
          <a:ln w="0">
            <a:noFill/>
          </a:ln>
        </p:spPr>
      </p:pic>
      <p:sp>
        <p:nvSpPr>
          <p:cNvPr id="372" name="Google Shape;140;p25"/>
          <p:cNvSpPr/>
          <p:nvPr/>
        </p:nvSpPr>
        <p:spPr>
          <a:xfrm>
            <a:off x="2088360" y="2505960"/>
            <a:ext cx="261000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20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Vérification Réseau</a:t>
            </a:r>
            <a:endParaRPr b="0" lang="fr-FR" sz="2050" spc="-1" strike="noStrike">
              <a:latin typeface="Arial"/>
            </a:endParaRPr>
          </a:p>
        </p:txBody>
      </p:sp>
      <p:sp>
        <p:nvSpPr>
          <p:cNvPr id="373" name="Google Shape;141;p25"/>
          <p:cNvSpPr/>
          <p:nvPr/>
        </p:nvSpPr>
        <p:spPr>
          <a:xfrm>
            <a:off x="2088360" y="295740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Cas 1 :</a:t>
            </a: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 Clusters partageant un même réseau/VLAN (ex. physnet1_nantes ou VLAN dédié).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4" name="Google Shape;142;p25"/>
          <p:cNvSpPr/>
          <p:nvPr/>
        </p:nvSpPr>
        <p:spPr>
          <a:xfrm>
            <a:off x="2088360" y="336456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Cas 2 :</a:t>
            </a: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 Clusters sur sous-réseaux différents – vérifier la connectivité via routage ou bridge physique.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5" name="Google Shape;143;p25"/>
          <p:cNvSpPr/>
          <p:nvPr/>
        </p:nvSpPr>
        <p:spPr>
          <a:xfrm>
            <a:off x="2088360" y="382392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Commandes &amp; Méthodes :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6" name="Google Shape;144;p25"/>
          <p:cNvSpPr/>
          <p:nvPr/>
        </p:nvSpPr>
        <p:spPr>
          <a:xfrm>
            <a:off x="2088360" y="428328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Utilisation des commandes OpenStack pour lister réseaux et sous-réseaux.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7" name="Google Shape;145;p25"/>
          <p:cNvSpPr/>
          <p:nvPr/>
        </p:nvSpPr>
        <p:spPr>
          <a:xfrm>
            <a:off x="2088360" y="469044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Tests de connectivité (ping, traceroute) entre VMs des clusters econome et ecotype.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78" name="Google Shape;146;p25"/>
          <p:cNvSpPr/>
          <p:nvPr/>
        </p:nvSpPr>
        <p:spPr>
          <a:xfrm>
            <a:off x="2088360" y="509760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2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Audit des routes : openstack router-port-list &lt;router_id&gt; | grep "10.37.0.0/24"</a:t>
            </a:r>
            <a:endParaRPr b="0" lang="fr-FR" sz="1600" spc="-1" strike="noStrike">
              <a:latin typeface="Arial"/>
            </a:endParaRPr>
          </a:p>
        </p:txBody>
      </p:sp>
      <p:pic>
        <p:nvPicPr>
          <p:cNvPr id="379" name="Google Shape;147;p25" descr="preencoded.png"/>
          <p:cNvPicPr/>
          <p:nvPr/>
        </p:nvPicPr>
        <p:blipFill>
          <a:blip r:embed="rId2"/>
          <a:stretch/>
        </p:blipFill>
        <p:spPr>
          <a:xfrm>
            <a:off x="730800" y="5640480"/>
            <a:ext cx="1043640" cy="2017080"/>
          </a:xfrm>
          <a:prstGeom prst="rect">
            <a:avLst/>
          </a:prstGeom>
          <a:ln w="0">
            <a:noFill/>
          </a:ln>
        </p:spPr>
      </p:pic>
      <p:sp>
        <p:nvSpPr>
          <p:cNvPr id="380" name="Google Shape;148;p25"/>
          <p:cNvSpPr/>
          <p:nvPr/>
        </p:nvSpPr>
        <p:spPr>
          <a:xfrm>
            <a:off x="2088360" y="5849280"/>
            <a:ext cx="2828880" cy="3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20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Vérification Stockage</a:t>
            </a:r>
            <a:endParaRPr b="0" lang="fr-FR" sz="2050" spc="-1" strike="noStrike">
              <a:latin typeface="Arial"/>
            </a:endParaRPr>
          </a:p>
        </p:txBody>
      </p:sp>
      <p:sp>
        <p:nvSpPr>
          <p:cNvPr id="381" name="Google Shape;149;p25"/>
          <p:cNvSpPr/>
          <p:nvPr/>
        </p:nvSpPr>
        <p:spPr>
          <a:xfrm>
            <a:off x="2088360" y="630072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Stockage partagé :</a:t>
            </a: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 S'assurer que les images (Glance) sont accessibles sur tous les nœuds.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82" name="Google Shape;150;p25"/>
          <p:cNvSpPr/>
          <p:nvPr/>
        </p:nvSpPr>
        <p:spPr>
          <a:xfrm>
            <a:off x="2088360" y="670788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Block Migration :</a:t>
            </a: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 Activer si stockage non partagé – tester la copie des disques via réseau.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83" name="Google Shape;151;p25"/>
          <p:cNvSpPr/>
          <p:nvPr/>
        </p:nvSpPr>
        <p:spPr>
          <a:xfrm>
            <a:off x="2088360" y="7115040"/>
            <a:ext cx="118108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Validation JSON :</a:t>
            </a:r>
            <a:r>
              <a:rPr b="0" lang="en-US" sz="1600" spc="-1" strike="noStrike">
                <a:solidFill>
                  <a:srgbClr val="49495a"/>
                </a:solidFill>
                <a:latin typeface="Open Sans"/>
                <a:ea typeface="Open Sans"/>
              </a:rPr>
              <a:t> Inclure une colonne « Block_Migration » et vérifier les détails dans le CSV.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157;p26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8457120" cy="792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63;p27"/>
          <p:cNvSpPr/>
          <p:nvPr/>
        </p:nvSpPr>
        <p:spPr>
          <a:xfrm>
            <a:off x="653040" y="608400"/>
            <a:ext cx="783792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36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Vérifications Spécifiques pour Xen</a:t>
            </a:r>
            <a:endParaRPr b="0" lang="fr-FR" sz="3650" spc="-1" strike="noStrike">
              <a:latin typeface="Arial"/>
            </a:endParaRPr>
          </a:p>
        </p:txBody>
      </p:sp>
      <p:sp>
        <p:nvSpPr>
          <p:cNvPr id="386" name="Google Shape;164;p27"/>
          <p:cNvSpPr/>
          <p:nvPr/>
        </p:nvSpPr>
        <p:spPr>
          <a:xfrm>
            <a:off x="653040" y="2053800"/>
            <a:ext cx="7837920" cy="1373040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Google Shape;165;p27"/>
          <p:cNvSpPr/>
          <p:nvPr/>
        </p:nvSpPr>
        <p:spPr>
          <a:xfrm>
            <a:off x="839520" y="2240280"/>
            <a:ext cx="29325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Versions et compilateurs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88" name="Google Shape;166;p27"/>
          <p:cNvSpPr/>
          <p:nvPr/>
        </p:nvSpPr>
        <p:spPr>
          <a:xfrm>
            <a:off x="839520" y="2643840"/>
            <a:ext cx="74649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Commandes : ssh econome-node "xl info | grep -E 'xen_version|cc_compiler'" ssh ecotype-node "xl info | grep -E 'xen_version|cc_compiler'"</a:t>
            </a:r>
            <a:endParaRPr b="0" lang="fr-FR" sz="1450" spc="-1" strike="noStrike">
              <a:latin typeface="Arial"/>
            </a:endParaRPr>
          </a:p>
        </p:txBody>
      </p:sp>
      <p:sp>
        <p:nvSpPr>
          <p:cNvPr id="389" name="Google Shape;167;p27"/>
          <p:cNvSpPr/>
          <p:nvPr/>
        </p:nvSpPr>
        <p:spPr>
          <a:xfrm>
            <a:off x="653040" y="3613680"/>
            <a:ext cx="7837920" cy="1074240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Google Shape;168;p27"/>
          <p:cNvSpPr/>
          <p:nvPr/>
        </p:nvSpPr>
        <p:spPr>
          <a:xfrm>
            <a:off x="839520" y="3800160"/>
            <a:ext cx="35586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Configuration Nova pour Xen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91" name="Google Shape;169;p27"/>
          <p:cNvSpPr/>
          <p:nvPr/>
        </p:nvSpPr>
        <p:spPr>
          <a:xfrm>
            <a:off x="839520" y="4203360"/>
            <a:ext cx="7464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Assurez-vous que nova.conf renvoie driver=libvirt et type=xen.</a:t>
            </a:r>
            <a:endParaRPr b="0" lang="fr-FR" sz="1450" spc="-1" strike="noStrike">
              <a:latin typeface="Arial"/>
            </a:endParaRPr>
          </a:p>
        </p:txBody>
      </p:sp>
      <p:sp>
        <p:nvSpPr>
          <p:cNvPr id="392" name="Google Shape;170;p27"/>
          <p:cNvSpPr/>
          <p:nvPr/>
        </p:nvSpPr>
        <p:spPr>
          <a:xfrm>
            <a:off x="653040" y="4874760"/>
            <a:ext cx="7837920" cy="1074240"/>
          </a:xfrm>
          <a:prstGeom prst="roundRect">
            <a:avLst>
              <a:gd name="adj" fmla="val 2604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Google Shape;171;p27"/>
          <p:cNvSpPr/>
          <p:nvPr/>
        </p:nvSpPr>
        <p:spPr>
          <a:xfrm>
            <a:off x="839520" y="5061240"/>
            <a:ext cx="30276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Tests de connectivité Xen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94" name="Google Shape;172;p27"/>
          <p:cNvSpPr/>
          <p:nvPr/>
        </p:nvSpPr>
        <p:spPr>
          <a:xfrm>
            <a:off x="839520" y="5464800"/>
            <a:ext cx="7464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Vérifier la connectivité sur le port (ex. 8002) avec nc -zv depuis chaque nœud.</a:t>
            </a:r>
            <a:endParaRPr b="0" lang="fr-FR" sz="1450" spc="-1" strike="noStrike">
              <a:latin typeface="Arial"/>
            </a:endParaRPr>
          </a:p>
        </p:txBody>
      </p:sp>
      <p:sp>
        <p:nvSpPr>
          <p:cNvPr id="395" name="Google Shape;173;p27"/>
          <p:cNvSpPr/>
          <p:nvPr/>
        </p:nvSpPr>
        <p:spPr>
          <a:xfrm>
            <a:off x="653040" y="6136200"/>
            <a:ext cx="7837920" cy="1485000"/>
          </a:xfrm>
          <a:prstGeom prst="roundRect">
            <a:avLst>
              <a:gd name="adj" fmla="val 1884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Google Shape;174;p27"/>
          <p:cNvSpPr/>
          <p:nvPr/>
        </p:nvSpPr>
        <p:spPr>
          <a:xfrm>
            <a:off x="839520" y="6322680"/>
            <a:ext cx="594108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Commande de test de migration Xen directement</a:t>
            </a:r>
            <a:endParaRPr b="0" lang="fr-FR" sz="1800" spc="-1" strike="noStrike">
              <a:latin typeface="Arial"/>
            </a:endParaRPr>
          </a:p>
        </p:txBody>
      </p:sp>
      <p:sp>
        <p:nvSpPr>
          <p:cNvPr id="397" name="Google Shape;175;p27"/>
          <p:cNvSpPr/>
          <p:nvPr/>
        </p:nvSpPr>
        <p:spPr>
          <a:xfrm>
            <a:off x="839520" y="6725880"/>
            <a:ext cx="7464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Exemple : xl migrate -C $INSTANCE_NAME econome-node</a:t>
            </a:r>
            <a:endParaRPr b="0" lang="fr-FR" sz="1450" spc="-1" strike="noStrike">
              <a:latin typeface="Arial"/>
            </a:endParaRPr>
          </a:p>
        </p:txBody>
      </p:sp>
      <p:sp>
        <p:nvSpPr>
          <p:cNvPr id="398" name="Google Shape;176;p27"/>
          <p:cNvSpPr/>
          <p:nvPr/>
        </p:nvSpPr>
        <p:spPr>
          <a:xfrm>
            <a:off x="839520" y="7136280"/>
            <a:ext cx="746496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buNone/>
              <a:tabLst>
                <a:tab algn="l" pos="0"/>
              </a:tabLst>
            </a:pPr>
            <a:r>
              <a:rPr b="1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Option -C :</a:t>
            </a:r>
            <a:r>
              <a:rPr b="0" lang="en-US" sz="1450" spc="-1" strike="noStrike">
                <a:solidFill>
                  <a:srgbClr val="49495a"/>
                </a:solidFill>
                <a:latin typeface="Open Sans"/>
                <a:ea typeface="Open Sans"/>
              </a:rPr>
              <a:t> Vérifie la compatibilité avant migration (requiert DNS/SSH configuré).</a:t>
            </a:r>
            <a:endParaRPr b="0" lang="fr-FR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182;p28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7648200" cy="66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188;p29"/>
          <p:cNvSpPr/>
          <p:nvPr/>
        </p:nvSpPr>
        <p:spPr>
          <a:xfrm>
            <a:off x="528120" y="653400"/>
            <a:ext cx="10464480" cy="4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29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Mise à Jour de la Base de Connaissances (CSV &amp; JSON)</a:t>
            </a:r>
            <a:endParaRPr b="0" lang="fr-FR" sz="2950" spc="-1" strike="noStrike">
              <a:latin typeface="Arial"/>
            </a:endParaRPr>
          </a:p>
        </p:txBody>
      </p:sp>
      <p:sp>
        <p:nvSpPr>
          <p:cNvPr id="401" name="Google Shape;189;p29"/>
          <p:cNvSpPr/>
          <p:nvPr/>
        </p:nvSpPr>
        <p:spPr>
          <a:xfrm>
            <a:off x="528120" y="1426680"/>
            <a:ext cx="13573800" cy="1328040"/>
          </a:xfrm>
          <a:prstGeom prst="roundRect">
            <a:avLst>
              <a:gd name="adj" fmla="val 1705"/>
            </a:avLst>
          </a:prstGeom>
          <a:noFill/>
          <a:ln w="9525">
            <a:solidFill>
              <a:srgbClr val="0000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Google Shape;190;p29"/>
          <p:cNvSpPr/>
          <p:nvPr/>
        </p:nvSpPr>
        <p:spPr>
          <a:xfrm>
            <a:off x="535680" y="1434600"/>
            <a:ext cx="13561200" cy="4374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Google Shape;191;p29"/>
          <p:cNvSpPr/>
          <p:nvPr/>
        </p:nvSpPr>
        <p:spPr>
          <a:xfrm>
            <a:off x="687240" y="153252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Cluster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4" name="Google Shape;192;p29"/>
          <p:cNvSpPr/>
          <p:nvPr/>
        </p:nvSpPr>
        <p:spPr>
          <a:xfrm>
            <a:off x="2950920" y="153252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Site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5" name="Google Shape;193;p29"/>
          <p:cNvSpPr/>
          <p:nvPr/>
        </p:nvSpPr>
        <p:spPr>
          <a:xfrm>
            <a:off x="5211360" y="153252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Xen_Version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6" name="Google Shape;194;p29"/>
          <p:cNvSpPr/>
          <p:nvPr/>
        </p:nvSpPr>
        <p:spPr>
          <a:xfrm>
            <a:off x="7471440" y="153252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PV_drivers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7" name="Google Shape;195;p29"/>
          <p:cNvSpPr/>
          <p:nvPr/>
        </p:nvSpPr>
        <p:spPr>
          <a:xfrm>
            <a:off x="9731520" y="153252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Réseau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8" name="Google Shape;196;p29"/>
          <p:cNvSpPr/>
          <p:nvPr/>
        </p:nvSpPr>
        <p:spPr>
          <a:xfrm>
            <a:off x="11991600" y="153252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Block_Migration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09" name="Google Shape;197;p29"/>
          <p:cNvSpPr/>
          <p:nvPr/>
        </p:nvSpPr>
        <p:spPr>
          <a:xfrm>
            <a:off x="535680" y="1872000"/>
            <a:ext cx="13561200" cy="43740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Google Shape;198;p29"/>
          <p:cNvSpPr/>
          <p:nvPr/>
        </p:nvSpPr>
        <p:spPr>
          <a:xfrm>
            <a:off x="687240" y="197028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econome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1" name="Google Shape;199;p29"/>
          <p:cNvSpPr/>
          <p:nvPr/>
        </p:nvSpPr>
        <p:spPr>
          <a:xfrm>
            <a:off x="2950920" y="197028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Nantes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2" name="Google Shape;200;p29"/>
          <p:cNvSpPr/>
          <p:nvPr/>
        </p:nvSpPr>
        <p:spPr>
          <a:xfrm>
            <a:off x="5211360" y="197028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4.16.1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3" name="Google Shape;201;p29"/>
          <p:cNvSpPr/>
          <p:nvPr/>
        </p:nvSpPr>
        <p:spPr>
          <a:xfrm>
            <a:off x="7471440" y="197028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xen-blkfront/xen-netfront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4" name="Google Shape;202;p29"/>
          <p:cNvSpPr/>
          <p:nvPr/>
        </p:nvSpPr>
        <p:spPr>
          <a:xfrm>
            <a:off x="9731520" y="197028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vlan-37 (42 a si super extra)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5" name="Google Shape;203;p29"/>
          <p:cNvSpPr/>
          <p:nvPr/>
        </p:nvSpPr>
        <p:spPr>
          <a:xfrm>
            <a:off x="11991600" y="197028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Yes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6" name="Google Shape;204;p29"/>
          <p:cNvSpPr/>
          <p:nvPr/>
        </p:nvSpPr>
        <p:spPr>
          <a:xfrm>
            <a:off x="535680" y="2309760"/>
            <a:ext cx="13561200" cy="43740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Google Shape;205;p29"/>
          <p:cNvSpPr/>
          <p:nvPr/>
        </p:nvSpPr>
        <p:spPr>
          <a:xfrm>
            <a:off x="687240" y="240804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ecotype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8" name="Google Shape;206;p29"/>
          <p:cNvSpPr/>
          <p:nvPr/>
        </p:nvSpPr>
        <p:spPr>
          <a:xfrm>
            <a:off x="2950920" y="240804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Nantes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19" name="Google Shape;207;p29"/>
          <p:cNvSpPr/>
          <p:nvPr/>
        </p:nvSpPr>
        <p:spPr>
          <a:xfrm>
            <a:off x="5211360" y="240804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4.16.1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0" name="Google Shape;208;p29"/>
          <p:cNvSpPr/>
          <p:nvPr/>
        </p:nvSpPr>
        <p:spPr>
          <a:xfrm>
            <a:off x="7471440" y="240804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xen-blkfront/xen-netfront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1" name="Google Shape;209;p29"/>
          <p:cNvSpPr/>
          <p:nvPr/>
        </p:nvSpPr>
        <p:spPr>
          <a:xfrm>
            <a:off x="9731520" y="2408040"/>
            <a:ext cx="19504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vlan-37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2" name="Google Shape;210;p29"/>
          <p:cNvSpPr/>
          <p:nvPr/>
        </p:nvSpPr>
        <p:spPr>
          <a:xfrm>
            <a:off x="11991600" y="2408040"/>
            <a:ext cx="195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Yes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3" name="Google Shape;211;p29"/>
          <p:cNvSpPr/>
          <p:nvPr/>
        </p:nvSpPr>
        <p:spPr>
          <a:xfrm>
            <a:off x="528120" y="292500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JSON de règles métier :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4" name="Google Shape;212;p29"/>
          <p:cNvSpPr/>
          <p:nvPr/>
        </p:nvSpPr>
        <p:spPr>
          <a:xfrm>
            <a:off x="528120" y="333612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Doit inclure des informations sur :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5" name="Google Shape;213;p29"/>
          <p:cNvSpPr/>
          <p:nvPr/>
        </p:nvSpPr>
        <p:spPr>
          <a:xfrm>
            <a:off x="528120" y="363024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Compatibilité CPU (flags)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6" name="Google Shape;214;p29"/>
          <p:cNvSpPr/>
          <p:nvPr/>
        </p:nvSpPr>
        <p:spPr>
          <a:xfrm>
            <a:off x="528120" y="392436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Version Xen et compilateur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7" name="Google Shape;215;p29"/>
          <p:cNvSpPr/>
          <p:nvPr/>
        </p:nvSpPr>
        <p:spPr>
          <a:xfrm>
            <a:off x="528120" y="421884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Détails réseau (VLAN, routage)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8" name="Google Shape;216;p29"/>
          <p:cNvSpPr/>
          <p:nvPr/>
        </p:nvSpPr>
        <p:spPr>
          <a:xfrm>
            <a:off x="528120" y="451296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Condition de stockage (partagé ou block migration activé)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29" name="Google Shape;217;p29"/>
          <p:cNvSpPr/>
          <p:nvPr/>
        </p:nvSpPr>
        <p:spPr>
          <a:xfrm>
            <a:off x="528120" y="492408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Mise à jour du Wrapper CLI :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0" name="Google Shape;218;p29"/>
          <p:cNvSpPr/>
          <p:nvPr/>
        </p:nvSpPr>
        <p:spPr>
          <a:xfrm>
            <a:off x="528120" y="533556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1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Fonctionnalités ajoutées :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1" name="Google Shape;219;p29"/>
          <p:cNvSpPr/>
          <p:nvPr/>
        </p:nvSpPr>
        <p:spPr>
          <a:xfrm>
            <a:off x="528120" y="562968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Vérification multi-couches (Xen, réseau, CPU, stockage).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2" name="Google Shape;220;p29"/>
          <p:cNvSpPr/>
          <p:nvPr/>
        </p:nvSpPr>
        <p:spPr>
          <a:xfrm>
            <a:off x="528120" y="592380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Mode dry-run pour simulation.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3" name="Google Shape;221;p29"/>
          <p:cNvSpPr/>
          <p:nvPr/>
        </p:nvSpPr>
        <p:spPr>
          <a:xfrm>
            <a:off x="528120" y="621792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Journalisation complète avec détails (ex. message d'erreur pour flag CPU manquant).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4" name="Google Shape;222;p29"/>
          <p:cNvSpPr/>
          <p:nvPr/>
        </p:nvSpPr>
        <p:spPr>
          <a:xfrm>
            <a:off x="528120" y="662940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Dépendances :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5" name="Google Shape;223;p29"/>
          <p:cNvSpPr/>
          <p:nvPr/>
        </p:nvSpPr>
        <p:spPr>
          <a:xfrm>
            <a:off x="528120" y="704052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python3-openstackclient, jq, sshpass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36" name="Google Shape;224;p29"/>
          <p:cNvSpPr/>
          <p:nvPr/>
        </p:nvSpPr>
        <p:spPr>
          <a:xfrm>
            <a:off x="528120" y="7334640"/>
            <a:ext cx="135738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150" spc="-1" strike="noStrike">
                <a:solidFill>
                  <a:srgbClr val="49495a"/>
                </a:solidFill>
                <a:latin typeface="Open Sans"/>
                <a:ea typeface="Open Sans"/>
              </a:rPr>
              <a:t>Permissions sécurisées (ex. chmod 600 /etc/node-clusters.csv)</a:t>
            </a:r>
            <a:endParaRPr b="0" lang="fr-FR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230;p30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7648200" cy="663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236;p31"/>
          <p:cNvSpPr/>
          <p:nvPr/>
        </p:nvSpPr>
        <p:spPr>
          <a:xfrm>
            <a:off x="628200" y="503640"/>
            <a:ext cx="1117512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Déploiement via Kadeploy et Configuration NFS</a:t>
            </a:r>
            <a:endParaRPr b="0" lang="fr-FR" sz="3500" spc="-1" strike="noStrike">
              <a:latin typeface="Arial"/>
            </a:endParaRPr>
          </a:p>
        </p:txBody>
      </p:sp>
      <p:sp>
        <p:nvSpPr>
          <p:cNvPr id="439" name="Google Shape;237;p31"/>
          <p:cNvSpPr/>
          <p:nvPr/>
        </p:nvSpPr>
        <p:spPr>
          <a:xfrm>
            <a:off x="7303680" y="1423440"/>
            <a:ext cx="22680" cy="6302160"/>
          </a:xfrm>
          <a:prstGeom prst="roundRect">
            <a:avLst>
              <a:gd name="adj" fmla="val 117782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Google Shape;238;p31"/>
          <p:cNvSpPr/>
          <p:nvPr/>
        </p:nvSpPr>
        <p:spPr>
          <a:xfrm>
            <a:off x="6597720" y="1815840"/>
            <a:ext cx="538200" cy="22680"/>
          </a:xfrm>
          <a:prstGeom prst="roundRect">
            <a:avLst>
              <a:gd name="adj" fmla="val 117782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Google Shape;239;p31"/>
          <p:cNvSpPr/>
          <p:nvPr/>
        </p:nvSpPr>
        <p:spPr>
          <a:xfrm>
            <a:off x="7113240" y="1625400"/>
            <a:ext cx="403560" cy="403560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42" name="Google Shape;240;p31" descr="preencoded.png"/>
          <p:cNvPicPr/>
          <p:nvPr/>
        </p:nvPicPr>
        <p:blipFill>
          <a:blip r:embed="rId1"/>
          <a:stretch/>
        </p:blipFill>
        <p:spPr>
          <a:xfrm>
            <a:off x="7180560" y="1658880"/>
            <a:ext cx="268920" cy="336240"/>
          </a:xfrm>
          <a:prstGeom prst="rect">
            <a:avLst/>
          </a:prstGeom>
          <a:ln w="0">
            <a:noFill/>
          </a:ln>
        </p:spPr>
      </p:pic>
      <p:sp>
        <p:nvSpPr>
          <p:cNvPr id="443" name="Google Shape;241;p31"/>
          <p:cNvSpPr/>
          <p:nvPr/>
        </p:nvSpPr>
        <p:spPr>
          <a:xfrm>
            <a:off x="628200" y="1602720"/>
            <a:ext cx="578916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Déploiement de l'environnement Xen via Kadeploy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44" name="Google Shape;242;p31"/>
          <p:cNvSpPr/>
          <p:nvPr/>
        </p:nvSpPr>
        <p:spPr>
          <a:xfrm>
            <a:off x="628200" y="227160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Image :</a:t>
            </a: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 ubuntu2204-xen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5" name="Google Shape;243;p31"/>
          <p:cNvSpPr/>
          <p:nvPr/>
        </p:nvSpPr>
        <p:spPr>
          <a:xfrm>
            <a:off x="628200" y="266616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Modifications dans la config Kadeploy :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6" name="Google Shape;244;p31"/>
          <p:cNvSpPr/>
          <p:nvPr/>
        </p:nvSpPr>
        <p:spPr>
          <a:xfrm>
            <a:off x="628200" y="306108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Référence à la nouvelle image compatible Xen.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7" name="Google Shape;245;p31"/>
          <p:cNvSpPr/>
          <p:nvPr/>
        </p:nvSpPr>
        <p:spPr>
          <a:xfrm>
            <a:off x="628200" y="3411000"/>
            <a:ext cx="57891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Vérification que l'environnement contient les modules Xen (xenstored, configuration xl/xen-api activée).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48" name="Google Shape;246;p31"/>
          <p:cNvSpPr/>
          <p:nvPr/>
        </p:nvSpPr>
        <p:spPr>
          <a:xfrm>
            <a:off x="7494120" y="2713320"/>
            <a:ext cx="538200" cy="22680"/>
          </a:xfrm>
          <a:prstGeom prst="roundRect">
            <a:avLst>
              <a:gd name="adj" fmla="val 117782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Google Shape;247;p31"/>
          <p:cNvSpPr/>
          <p:nvPr/>
        </p:nvSpPr>
        <p:spPr>
          <a:xfrm>
            <a:off x="7113240" y="2522520"/>
            <a:ext cx="403560" cy="403560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0" name="Google Shape;248;p31" descr="preencoded.png"/>
          <p:cNvPicPr/>
          <p:nvPr/>
        </p:nvPicPr>
        <p:blipFill>
          <a:blip r:embed="rId2"/>
          <a:stretch/>
        </p:blipFill>
        <p:spPr>
          <a:xfrm>
            <a:off x="7180560" y="2556360"/>
            <a:ext cx="268920" cy="336240"/>
          </a:xfrm>
          <a:prstGeom prst="rect">
            <a:avLst/>
          </a:prstGeom>
          <a:ln w="0">
            <a:noFill/>
          </a:ln>
        </p:spPr>
      </p:pic>
      <p:sp>
        <p:nvSpPr>
          <p:cNvPr id="451" name="Google Shape;249;p31"/>
          <p:cNvSpPr/>
          <p:nvPr/>
        </p:nvSpPr>
        <p:spPr>
          <a:xfrm>
            <a:off x="8212680" y="2500200"/>
            <a:ext cx="480924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Configuration NFS pour Stockage Partagé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52" name="Google Shape;250;p31"/>
          <p:cNvSpPr/>
          <p:nvPr/>
        </p:nvSpPr>
        <p:spPr>
          <a:xfrm>
            <a:off x="8212680" y="288828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Sur le contrôleur :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3" name="Google Shape;251;p31"/>
          <p:cNvSpPr/>
          <p:nvPr/>
        </p:nvSpPr>
        <p:spPr>
          <a:xfrm>
            <a:off x="8212680" y="3283200"/>
            <a:ext cx="57891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Installer nfs-kernel-server et partager un répertoire (ex. /var/lib/glance/images).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4" name="Google Shape;252;p31"/>
          <p:cNvSpPr/>
          <p:nvPr/>
        </p:nvSpPr>
        <p:spPr>
          <a:xfrm>
            <a:off x="8212680" y="3920400"/>
            <a:ext cx="57891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Exemple /etc/exports : /var/lib/glance/images *(rw,sync,no_root_squash)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5" name="Google Shape;253;p31"/>
          <p:cNvSpPr/>
          <p:nvPr/>
        </p:nvSpPr>
        <p:spPr>
          <a:xfrm>
            <a:off x="8212680" y="455724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Recharger la config : sudo exportfs -ra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6" name="Google Shape;254;p31"/>
          <p:cNvSpPr/>
          <p:nvPr/>
        </p:nvSpPr>
        <p:spPr>
          <a:xfrm>
            <a:off x="8212680" y="495216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Sur chaque nœud compute :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7" name="Google Shape;255;p31"/>
          <p:cNvSpPr/>
          <p:nvPr/>
        </p:nvSpPr>
        <p:spPr>
          <a:xfrm>
            <a:off x="8212680" y="534708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Installer nfs-common.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8" name="Google Shape;256;p31"/>
          <p:cNvSpPr/>
          <p:nvPr/>
        </p:nvSpPr>
        <p:spPr>
          <a:xfrm>
            <a:off x="8212680" y="5697000"/>
            <a:ext cx="57891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Monter le partage : sudo mount &lt;IP_du_controller&gt;:/var/lib/glance/images /mnt/nfs/images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59" name="Google Shape;257;p31"/>
          <p:cNvSpPr/>
          <p:nvPr/>
        </p:nvSpPr>
        <p:spPr>
          <a:xfrm>
            <a:off x="8212680" y="633384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Automatiser via /etc/fstab.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60" name="Google Shape;258;p31"/>
          <p:cNvSpPr/>
          <p:nvPr/>
        </p:nvSpPr>
        <p:spPr>
          <a:xfrm>
            <a:off x="6597720" y="5042880"/>
            <a:ext cx="538200" cy="22680"/>
          </a:xfrm>
          <a:prstGeom prst="roundRect">
            <a:avLst>
              <a:gd name="adj" fmla="val 117782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Google Shape;259;p31"/>
          <p:cNvSpPr/>
          <p:nvPr/>
        </p:nvSpPr>
        <p:spPr>
          <a:xfrm>
            <a:off x="7113240" y="4852440"/>
            <a:ext cx="403560" cy="403560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2" name="Google Shape;260;p31" descr="preencoded.png"/>
          <p:cNvPicPr/>
          <p:nvPr/>
        </p:nvPicPr>
        <p:blipFill>
          <a:blip r:embed="rId3"/>
          <a:stretch/>
        </p:blipFill>
        <p:spPr>
          <a:xfrm>
            <a:off x="7180560" y="4885920"/>
            <a:ext cx="268920" cy="336240"/>
          </a:xfrm>
          <a:prstGeom prst="rect">
            <a:avLst/>
          </a:prstGeom>
          <a:ln w="0">
            <a:noFill/>
          </a:ln>
        </p:spPr>
      </p:pic>
      <p:sp>
        <p:nvSpPr>
          <p:cNvPr id="463" name="Google Shape;261;p31"/>
          <p:cNvSpPr/>
          <p:nvPr/>
        </p:nvSpPr>
        <p:spPr>
          <a:xfrm>
            <a:off x="4173840" y="4829760"/>
            <a:ext cx="2243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75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Points Réseaux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64" name="Google Shape;262;p31"/>
          <p:cNvSpPr/>
          <p:nvPr/>
        </p:nvSpPr>
        <p:spPr>
          <a:xfrm>
            <a:off x="628200" y="5217840"/>
            <a:ext cx="5789160" cy="57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Garantir que le VLAN dédié (via KaVLAN) regroupe tous les nœuds.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465" name="Google Shape;263;p31"/>
          <p:cNvSpPr/>
          <p:nvPr/>
        </p:nvSpPr>
        <p:spPr>
          <a:xfrm>
            <a:off x="628200" y="5855040"/>
            <a:ext cx="578916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60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1400" spc="-1" strike="noStrike">
                <a:solidFill>
                  <a:srgbClr val="49495a"/>
                </a:solidFill>
                <a:latin typeface="Open Sans"/>
                <a:ea typeface="Open Sans"/>
              </a:rPr>
              <a:t>Vérifier que le trafic NFS est autorisé (ports TCP/UDP 2049).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269;p32" descr=""/>
          <p:cNvPicPr/>
          <p:nvPr/>
        </p:nvPicPr>
        <p:blipFill>
          <a:blip r:embed="rId1"/>
          <a:stretch/>
        </p:blipFill>
        <p:spPr>
          <a:xfrm>
            <a:off x="1847160" y="189000"/>
            <a:ext cx="7648200" cy="755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275;p33"/>
          <p:cNvSpPr/>
          <p:nvPr/>
        </p:nvSpPr>
        <p:spPr>
          <a:xfrm>
            <a:off x="401040" y="316080"/>
            <a:ext cx="6310800" cy="3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buNone/>
              <a:tabLst>
                <a:tab algn="l" pos="0"/>
              </a:tabLst>
            </a:pPr>
            <a:r>
              <a:rPr b="0" lang="en-US" sz="2250" spc="-1" strike="noStrike">
                <a:solidFill>
                  <a:srgbClr val="403ccf"/>
                </a:solidFill>
                <a:latin typeface="Libre Baskerville"/>
                <a:ea typeface="Libre Baskerville"/>
              </a:rPr>
              <a:t>Finalisation, Rapports et Prochaines Étapes</a:t>
            </a:r>
            <a:endParaRPr b="0" lang="fr-FR" sz="2250" spc="-1" strike="noStrike">
              <a:latin typeface="Arial"/>
            </a:endParaRPr>
          </a:p>
        </p:txBody>
      </p:sp>
      <p:pic>
        <p:nvPicPr>
          <p:cNvPr id="468" name="Google Shape;276;p33" descr="preencoded.png"/>
          <p:cNvPicPr/>
          <p:nvPr/>
        </p:nvPicPr>
        <p:blipFill>
          <a:blip r:embed="rId1"/>
          <a:stretch/>
        </p:blipFill>
        <p:spPr>
          <a:xfrm>
            <a:off x="3002400" y="903240"/>
            <a:ext cx="1710720" cy="659880"/>
          </a:xfrm>
          <a:prstGeom prst="rect">
            <a:avLst/>
          </a:prstGeom>
          <a:ln w="0">
            <a:noFill/>
          </a:ln>
        </p:spPr>
      </p:pic>
      <p:pic>
        <p:nvPicPr>
          <p:cNvPr id="469" name="Google Shape;277;p33" descr="preencoded.png"/>
          <p:cNvPicPr/>
          <p:nvPr/>
        </p:nvPicPr>
        <p:blipFill>
          <a:blip r:embed="rId2"/>
          <a:stretch/>
        </p:blipFill>
        <p:spPr>
          <a:xfrm>
            <a:off x="3777480" y="1214280"/>
            <a:ext cx="160560" cy="201240"/>
          </a:xfrm>
          <a:prstGeom prst="rect">
            <a:avLst/>
          </a:prstGeom>
          <a:ln w="0">
            <a:noFill/>
          </a:ln>
        </p:spPr>
      </p:pic>
      <p:sp>
        <p:nvSpPr>
          <p:cNvPr id="470" name="Google Shape;278;p33"/>
          <p:cNvSpPr/>
          <p:nvPr/>
        </p:nvSpPr>
        <p:spPr>
          <a:xfrm>
            <a:off x="4828320" y="1017720"/>
            <a:ext cx="143208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Prochaines Étapes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71" name="Google Shape;279;p33"/>
          <p:cNvSpPr/>
          <p:nvPr/>
        </p:nvSpPr>
        <p:spPr>
          <a:xfrm>
            <a:off x="4828320" y="1265400"/>
            <a:ext cx="18752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Tests, filtres Nova, rapport complet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72" name="Google Shape;280;p33"/>
          <p:cNvSpPr/>
          <p:nvPr/>
        </p:nvSpPr>
        <p:spPr>
          <a:xfrm>
            <a:off x="4742280" y="1573920"/>
            <a:ext cx="9457920" cy="7200"/>
          </a:xfrm>
          <a:prstGeom prst="roundRect">
            <a:avLst>
              <a:gd name="adj" fmla="val 225606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3" name="Google Shape;281;p33" descr="preencoded.png"/>
          <p:cNvPicPr/>
          <p:nvPr/>
        </p:nvPicPr>
        <p:blipFill>
          <a:blip r:embed="rId3"/>
          <a:stretch/>
        </p:blipFill>
        <p:spPr>
          <a:xfrm>
            <a:off x="2146680" y="1591920"/>
            <a:ext cx="3422160" cy="659880"/>
          </a:xfrm>
          <a:prstGeom prst="rect">
            <a:avLst/>
          </a:prstGeom>
          <a:ln w="0">
            <a:noFill/>
          </a:ln>
        </p:spPr>
      </p:pic>
      <p:pic>
        <p:nvPicPr>
          <p:cNvPr id="474" name="Google Shape;282;p33" descr="preencoded.png"/>
          <p:cNvPicPr/>
          <p:nvPr/>
        </p:nvPicPr>
        <p:blipFill>
          <a:blip r:embed="rId4"/>
          <a:stretch/>
        </p:blipFill>
        <p:spPr>
          <a:xfrm>
            <a:off x="3777480" y="1821240"/>
            <a:ext cx="160560" cy="201240"/>
          </a:xfrm>
          <a:prstGeom prst="rect">
            <a:avLst/>
          </a:prstGeom>
          <a:ln w="0">
            <a:noFill/>
          </a:ln>
        </p:spPr>
      </p:pic>
      <p:sp>
        <p:nvSpPr>
          <p:cNvPr id="475" name="Google Shape;283;p33"/>
          <p:cNvSpPr/>
          <p:nvPr/>
        </p:nvSpPr>
        <p:spPr>
          <a:xfrm>
            <a:off x="5683680" y="1706400"/>
            <a:ext cx="1992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Points Critiques à Rappeler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76" name="Google Shape;284;p33"/>
          <p:cNvSpPr/>
          <p:nvPr/>
        </p:nvSpPr>
        <p:spPr>
          <a:xfrm>
            <a:off x="5683680" y="1954080"/>
            <a:ext cx="19926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Compatibilité, réseau, intégration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77" name="Google Shape;285;p33"/>
          <p:cNvSpPr/>
          <p:nvPr/>
        </p:nvSpPr>
        <p:spPr>
          <a:xfrm>
            <a:off x="5598000" y="2262600"/>
            <a:ext cx="8602560" cy="7200"/>
          </a:xfrm>
          <a:prstGeom prst="roundRect">
            <a:avLst>
              <a:gd name="adj" fmla="val 225606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8" name="Google Shape;286;p33" descr="preencoded.png"/>
          <p:cNvPicPr/>
          <p:nvPr/>
        </p:nvPicPr>
        <p:blipFill>
          <a:blip r:embed="rId5"/>
          <a:stretch/>
        </p:blipFill>
        <p:spPr>
          <a:xfrm>
            <a:off x="1291320" y="2280600"/>
            <a:ext cx="5133240" cy="659880"/>
          </a:xfrm>
          <a:prstGeom prst="rect">
            <a:avLst/>
          </a:prstGeom>
          <a:ln w="0">
            <a:noFill/>
          </a:ln>
        </p:spPr>
      </p:pic>
      <p:pic>
        <p:nvPicPr>
          <p:cNvPr id="479" name="Google Shape;287;p33" descr="preencoded.png"/>
          <p:cNvPicPr/>
          <p:nvPr/>
        </p:nvPicPr>
        <p:blipFill>
          <a:blip r:embed="rId6"/>
          <a:stretch/>
        </p:blipFill>
        <p:spPr>
          <a:xfrm>
            <a:off x="3777480" y="2509920"/>
            <a:ext cx="160560" cy="201240"/>
          </a:xfrm>
          <a:prstGeom prst="rect">
            <a:avLst/>
          </a:prstGeom>
          <a:ln w="0">
            <a:noFill/>
          </a:ln>
        </p:spPr>
      </p:pic>
      <p:sp>
        <p:nvSpPr>
          <p:cNvPr id="480" name="Google Shape;288;p33"/>
          <p:cNvSpPr/>
          <p:nvPr/>
        </p:nvSpPr>
        <p:spPr>
          <a:xfrm>
            <a:off x="6539400" y="2395080"/>
            <a:ext cx="184464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Rapport et Journalisation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81" name="Google Shape;289;p33"/>
          <p:cNvSpPr/>
          <p:nvPr/>
        </p:nvSpPr>
        <p:spPr>
          <a:xfrm>
            <a:off x="6539400" y="2642760"/>
            <a:ext cx="18446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Suivi et logs détaillés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82" name="Google Shape;290;p33"/>
          <p:cNvSpPr/>
          <p:nvPr/>
        </p:nvSpPr>
        <p:spPr>
          <a:xfrm>
            <a:off x="6453360" y="2950920"/>
            <a:ext cx="7746840" cy="7200"/>
          </a:xfrm>
          <a:prstGeom prst="roundRect">
            <a:avLst>
              <a:gd name="adj" fmla="val 225606"/>
            </a:avLst>
          </a:prstGeom>
          <a:solidFill>
            <a:srgbClr val="d0ce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83" name="Google Shape;291;p33" descr="preencoded.png"/>
          <p:cNvPicPr/>
          <p:nvPr/>
        </p:nvPicPr>
        <p:blipFill>
          <a:blip r:embed="rId7"/>
          <a:stretch/>
        </p:blipFill>
        <p:spPr>
          <a:xfrm>
            <a:off x="435600" y="2969280"/>
            <a:ext cx="6844680" cy="659880"/>
          </a:xfrm>
          <a:prstGeom prst="rect">
            <a:avLst/>
          </a:prstGeom>
          <a:ln w="0">
            <a:noFill/>
          </a:ln>
        </p:spPr>
      </p:pic>
      <p:pic>
        <p:nvPicPr>
          <p:cNvPr id="484" name="Google Shape;292;p33" descr="preencoded.png"/>
          <p:cNvPicPr/>
          <p:nvPr/>
        </p:nvPicPr>
        <p:blipFill>
          <a:blip r:embed="rId8"/>
          <a:stretch/>
        </p:blipFill>
        <p:spPr>
          <a:xfrm>
            <a:off x="3777480" y="3198600"/>
            <a:ext cx="160560" cy="201240"/>
          </a:xfrm>
          <a:prstGeom prst="rect">
            <a:avLst/>
          </a:prstGeom>
          <a:ln w="0">
            <a:noFill/>
          </a:ln>
        </p:spPr>
      </p:pic>
      <p:sp>
        <p:nvSpPr>
          <p:cNvPr id="485" name="Google Shape;293;p33"/>
          <p:cNvSpPr/>
          <p:nvPr/>
        </p:nvSpPr>
        <p:spPr>
          <a:xfrm>
            <a:off x="7395120" y="3083760"/>
            <a:ext cx="18414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9495a"/>
                </a:solidFill>
                <a:latin typeface="Libre Baskerville"/>
                <a:ea typeface="Libre Baskerville"/>
              </a:rPr>
              <a:t>Finalisation du Processus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86" name="Google Shape;294;p33"/>
          <p:cNvSpPr/>
          <p:nvPr/>
        </p:nvSpPr>
        <p:spPr>
          <a:xfrm>
            <a:off x="7395120" y="3331440"/>
            <a:ext cx="2130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Mise à jour DB, règles réseau, validation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87" name="Google Shape;295;p33"/>
          <p:cNvSpPr/>
          <p:nvPr/>
        </p:nvSpPr>
        <p:spPr>
          <a:xfrm>
            <a:off x="401040" y="375804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Finalisation du Processus de Migration Extra-Clusters :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88" name="Google Shape;296;p33"/>
          <p:cNvSpPr/>
          <p:nvPr/>
        </p:nvSpPr>
        <p:spPr>
          <a:xfrm>
            <a:off x="401040" y="407016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Étapes finales :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89" name="Google Shape;297;p33"/>
          <p:cNvSpPr/>
          <p:nvPr/>
        </p:nvSpPr>
        <p:spPr>
          <a:xfrm>
            <a:off x="401040" y="42937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Mise à jour des bases de données Nova (statut, localisation de VM).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0" name="Google Shape;298;p33"/>
          <p:cNvSpPr/>
          <p:nvPr/>
        </p:nvSpPr>
        <p:spPr>
          <a:xfrm>
            <a:off x="401040" y="45169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Réapplication des règles réseau par Neutron.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1" name="Google Shape;299;p33"/>
          <p:cNvSpPr/>
          <p:nvPr/>
        </p:nvSpPr>
        <p:spPr>
          <a:xfrm>
            <a:off x="401040" y="474048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lvl="1" marL="68580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Validation post-migration via outils de monitoring.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2" name="Google Shape;300;p33"/>
          <p:cNvSpPr/>
          <p:nvPr/>
        </p:nvSpPr>
        <p:spPr>
          <a:xfrm>
            <a:off x="401040" y="505260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Rapport et Journalisation :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3" name="Google Shape;301;p33"/>
          <p:cNvSpPr/>
          <p:nvPr/>
        </p:nvSpPr>
        <p:spPr>
          <a:xfrm>
            <a:off x="401040" y="53647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Commandes de suivi et logs détaillés (ex. tail -f /var/log/openstack_migration.log).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4" name="Google Shape;302;p33"/>
          <p:cNvSpPr/>
          <p:nvPr/>
        </p:nvSpPr>
        <p:spPr>
          <a:xfrm>
            <a:off x="401040" y="55879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Sortie d'erreurs (ex. "ERREUR: Flag CPU manquant (pdpe1gb)").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5" name="Google Shape;303;p33"/>
          <p:cNvSpPr/>
          <p:nvPr/>
        </p:nvSpPr>
        <p:spPr>
          <a:xfrm>
            <a:off x="401040" y="590040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Points Critiques à Rappeler :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6" name="Google Shape;304;p33"/>
          <p:cNvSpPr/>
          <p:nvPr/>
        </p:nvSpPr>
        <p:spPr>
          <a:xfrm>
            <a:off x="401040" y="62125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Vérifier la compatibilité de stockage :</a:t>
            </a: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 Même si le réseau est OK, sans stockage partagé ou block migration activé, la migration échouera.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7" name="Google Shape;305;p33"/>
          <p:cNvSpPr/>
          <p:nvPr/>
        </p:nvSpPr>
        <p:spPr>
          <a:xfrm>
            <a:off x="401040" y="64357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Vérifier les règles réseau et VLAN :</a:t>
            </a: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 Confirmer que tous les nœuds sont dans le même domaine de diffusion.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8" name="Google Shape;306;p33"/>
          <p:cNvSpPr/>
          <p:nvPr/>
        </p:nvSpPr>
        <p:spPr>
          <a:xfrm>
            <a:off x="401040" y="665928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Intégration complète des fichiers CSV et JSON :</a:t>
            </a: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 Pour assurer un contrôle multi-couches (Xen, réseau, CPU, stockage).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499" name="Google Shape;307;p33"/>
          <p:cNvSpPr/>
          <p:nvPr/>
        </p:nvSpPr>
        <p:spPr>
          <a:xfrm>
            <a:off x="401040" y="697140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Prochaines Étapes :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500" name="Google Shape;308;p33"/>
          <p:cNvSpPr/>
          <p:nvPr/>
        </p:nvSpPr>
        <p:spPr>
          <a:xfrm>
            <a:off x="401040" y="72835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Poursuivre les tests en mode dry-run puis en production.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501" name="Google Shape;309;p33"/>
          <p:cNvSpPr/>
          <p:nvPr/>
        </p:nvSpPr>
        <p:spPr>
          <a:xfrm>
            <a:off x="401040" y="750672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Affiner les filtres personnalisés pour Nova (via xen_compatibility_filter.py).</a:t>
            </a:r>
            <a:endParaRPr b="0" lang="fr-FR" sz="900" spc="-1" strike="noStrike">
              <a:latin typeface="Arial"/>
            </a:endParaRPr>
          </a:p>
        </p:txBody>
      </p:sp>
      <p:sp>
        <p:nvSpPr>
          <p:cNvPr id="502" name="Google Shape;310;p33"/>
          <p:cNvSpPr/>
          <p:nvPr/>
        </p:nvSpPr>
        <p:spPr>
          <a:xfrm>
            <a:off x="401040" y="7730280"/>
            <a:ext cx="138279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55000"/>
              </a:lnSpc>
              <a:buClr>
                <a:srgbClr val="49495a"/>
              </a:buClr>
              <a:buFont typeface="Open Sans"/>
              <a:buChar char="•"/>
            </a:pPr>
            <a:r>
              <a:rPr b="0" lang="en-US" sz="900" spc="-1" strike="noStrike">
                <a:solidFill>
                  <a:srgbClr val="49495a"/>
                </a:solidFill>
                <a:latin typeface="Open Sans"/>
                <a:ea typeface="Open Sans"/>
              </a:rPr>
              <a:t>Préparer le rapport complet et les retours d'expérience pour la prochaine réunion.</a:t>
            </a:r>
            <a:endParaRPr b="0" lang="fr-FR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316;p34" descr=""/>
          <p:cNvPicPr/>
          <p:nvPr/>
        </p:nvPicPr>
        <p:blipFill>
          <a:blip r:embed="rId1"/>
          <a:stretch/>
        </p:blipFill>
        <p:spPr>
          <a:xfrm rot="5400000">
            <a:off x="5559840" y="-3084480"/>
            <a:ext cx="3657240" cy="14630040"/>
          </a:xfrm>
          <a:prstGeom prst="rect">
            <a:avLst/>
          </a:prstGeom>
          <a:ln w="0">
            <a:noFill/>
          </a:ln>
        </p:spPr>
      </p:pic>
      <p:sp>
        <p:nvSpPr>
          <p:cNvPr id="504" name="Google Shape;317;p34"/>
          <p:cNvSpPr/>
          <p:nvPr/>
        </p:nvSpPr>
        <p:spPr>
          <a:xfrm>
            <a:off x="1011960" y="255960"/>
            <a:ext cx="118868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Bref Resume de l’ensemble des etapes suivies jusquici.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2025-03-28T03:45:51Z</dcterms:modified>
  <cp:revision>2</cp:revision>
  <dc:subject/>
  <dc:title/>
</cp:coreProperties>
</file>