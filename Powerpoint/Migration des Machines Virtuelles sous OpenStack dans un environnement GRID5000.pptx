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3"/>
    <p:sldMasterId id="2147483671" r:id="rId4"/>
    <p:sldMasterId id="214748367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y="8229600" cx="14630400"/>
  <p:notesSz cx="8229600" cy="14630400"/>
  <p:embeddedFontLst>
    <p:embeddedFont>
      <p:font typeface="Roboto Slab"/>
      <p:regular r:id="rId28"/>
      <p:bold r:id="rId29"/>
    </p:embeddedFont>
    <p:embeddedFont>
      <p:font typeface="Roboto"/>
      <p:regular r:id="rId30"/>
      <p:bold r:id="rId31"/>
      <p:italic r:id="rId32"/>
      <p:boldItalic r:id="rId33"/>
    </p:embeddedFont>
    <p:embeddedFont>
      <p:font typeface="Montserrat"/>
      <p:regular r:id="rId34"/>
      <p:bold r:id="rId35"/>
      <p:italic r:id="rId36"/>
      <p:boldItalic r:id="rId37"/>
    </p:embeddedFont>
    <p:embeddedFont>
      <p:font typeface="Inter"/>
      <p:bold r:id="rId38"/>
      <p:boldItalic r:id="rId39"/>
    </p:embeddedFont>
    <p:embeddedFont>
      <p:font typeface="Martel Sans"/>
      <p:regular r:id="rId40"/>
      <p:bold r:id="rId41"/>
    </p:embeddedFont>
    <p:embeddedFont>
      <p:font typeface="Kanit"/>
      <p:regular r:id="rId42"/>
      <p:bold r:id="rId43"/>
      <p:italic r:id="rId44"/>
      <p:boldItalic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artelSans-regular.fntdata"/><Relationship Id="rId20" Type="http://schemas.openxmlformats.org/officeDocument/2006/relationships/slide" Target="slides/slide14.xml"/><Relationship Id="rId42" Type="http://schemas.openxmlformats.org/officeDocument/2006/relationships/font" Target="fonts/Kanit-regular.fntdata"/><Relationship Id="rId41" Type="http://schemas.openxmlformats.org/officeDocument/2006/relationships/font" Target="fonts/MartelSans-bold.fntdata"/><Relationship Id="rId22" Type="http://schemas.openxmlformats.org/officeDocument/2006/relationships/slide" Target="slides/slide16.xml"/><Relationship Id="rId44" Type="http://schemas.openxmlformats.org/officeDocument/2006/relationships/font" Target="fonts/Kanit-italic.fntdata"/><Relationship Id="rId21" Type="http://schemas.openxmlformats.org/officeDocument/2006/relationships/slide" Target="slides/slide15.xml"/><Relationship Id="rId43" Type="http://schemas.openxmlformats.org/officeDocument/2006/relationships/font" Target="fonts/Kanit-bold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45" Type="http://schemas.openxmlformats.org/officeDocument/2006/relationships/font" Target="fonts/Kanit-boldItalic.fntdata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RobotoSlab-regular.fntdata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3.xml"/><Relationship Id="rId6" Type="http://schemas.openxmlformats.org/officeDocument/2006/relationships/notesMaster" Target="notesMasters/notesMaster1.xml"/><Relationship Id="rId29" Type="http://schemas.openxmlformats.org/officeDocument/2006/relationships/font" Target="fonts/RobotoSlab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oboto-bold.fntdata"/><Relationship Id="rId30" Type="http://schemas.openxmlformats.org/officeDocument/2006/relationships/font" Target="fonts/Roboto-regular.fntdata"/><Relationship Id="rId11" Type="http://schemas.openxmlformats.org/officeDocument/2006/relationships/slide" Target="slides/slide5.xml"/><Relationship Id="rId33" Type="http://schemas.openxmlformats.org/officeDocument/2006/relationships/font" Target="fonts/Roboto-boldItalic.fntdata"/><Relationship Id="rId10" Type="http://schemas.openxmlformats.org/officeDocument/2006/relationships/slide" Target="slides/slide4.xml"/><Relationship Id="rId32" Type="http://schemas.openxmlformats.org/officeDocument/2006/relationships/font" Target="fonts/Roboto-italic.fntdata"/><Relationship Id="rId13" Type="http://schemas.openxmlformats.org/officeDocument/2006/relationships/slide" Target="slides/slide7.xml"/><Relationship Id="rId35" Type="http://schemas.openxmlformats.org/officeDocument/2006/relationships/font" Target="fonts/Montserrat-bold.fntdata"/><Relationship Id="rId12" Type="http://schemas.openxmlformats.org/officeDocument/2006/relationships/slide" Target="slides/slide6.xml"/><Relationship Id="rId34" Type="http://schemas.openxmlformats.org/officeDocument/2006/relationships/font" Target="fonts/Montserrat-regular.fntdata"/><Relationship Id="rId15" Type="http://schemas.openxmlformats.org/officeDocument/2006/relationships/slide" Target="slides/slide9.xml"/><Relationship Id="rId37" Type="http://schemas.openxmlformats.org/officeDocument/2006/relationships/font" Target="fonts/Montserrat-boldItalic.fntdata"/><Relationship Id="rId14" Type="http://schemas.openxmlformats.org/officeDocument/2006/relationships/slide" Target="slides/slide8.xml"/><Relationship Id="rId36" Type="http://schemas.openxmlformats.org/officeDocument/2006/relationships/font" Target="fonts/Montserrat-italic.fntdata"/><Relationship Id="rId17" Type="http://schemas.openxmlformats.org/officeDocument/2006/relationships/slide" Target="slides/slide11.xml"/><Relationship Id="rId39" Type="http://schemas.openxmlformats.org/officeDocument/2006/relationships/font" Target="fonts/Inter-boldItalic.fntdata"/><Relationship Id="rId16" Type="http://schemas.openxmlformats.org/officeDocument/2006/relationships/slide" Target="slides/slide10.xml"/><Relationship Id="rId38" Type="http://schemas.openxmlformats.org/officeDocument/2006/relationships/font" Target="fonts/Inter-bold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38cce3b402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g338cce3b402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g338cce3b402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38cce3b402_0_2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g338cce3b402_0_2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g338cce3b402_0_23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38cce3b402_0_2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g338cce3b402_0_25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g338cce3b402_0_25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38cce3b402_0_2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g338cce3b402_0_27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g338cce3b402_0_27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38cce3b402_0_3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g338cce3b402_0_3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g338cce3b402_0_32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38cce3b402_0_3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g338cce3b402_0_34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g338cce3b402_0_34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8" name="Google Shape;25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38cce3b402_0_3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3" name="Google Shape;293;g338cce3b402_0_35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g338cce3b402_0_35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38cce3b402_0_3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9" name="Google Shape;299;g338cce3b402_0_35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g338cce3b402_0_35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5" name="Google Shape;30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5" name="Google Shape;32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5" name="Google Shape;33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38cce3b402_2_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7" name="Google Shape;357;g338cce3b402_2_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g338cce3b402_2_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38cce3b402_2_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0" name="Google Shape;380;g338cce3b402_2_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g338cce3b402_2_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2" name="Google Shape;40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338cce3b402_4_38:notes"/>
          <p:cNvSpPr txBox="1"/>
          <p:nvPr>
            <p:ph idx="1" type="body"/>
          </p:nvPr>
        </p:nvSpPr>
        <p:spPr>
          <a:xfrm>
            <a:off x="822951" y="6949429"/>
            <a:ext cx="6583676" cy="6583659"/>
          </a:xfrm>
          <a:prstGeom prst="rect">
            <a:avLst/>
          </a:prstGeom>
        </p:spPr>
        <p:txBody>
          <a:bodyPr anchorCtr="0" anchor="t" bIns="66525" lIns="66525" spcFirstLastPara="1" rIns="66525" wrap="square" tIns="66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g338cce3b402_4_38:notes"/>
          <p:cNvSpPr/>
          <p:nvPr>
            <p:ph idx="2" type="sldImg"/>
          </p:nvPr>
        </p:nvSpPr>
        <p:spPr>
          <a:xfrm>
            <a:off x="1370393" y="1097276"/>
            <a:ext cx="5489635" cy="548638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6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6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6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6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6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6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6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6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6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6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6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6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6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6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6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" name="Google Shape;21;p4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" name="Google Shape;25;p5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" name="Google Shape;29;p6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" name="Google Shape;33;p7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" name="Google Shape;37;p8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" name="Google Shape;41;p9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" name="Google Shape;45;p10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" name="Google Shape;49;p11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1 master">
  <p:cSld name="Slide 11 master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3" name="Google Shape;53;p1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2 master">
  <p:cSld name="Slide 12 master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7" name="Google Shape;57;p1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3" name="Google Shape;63;p16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7" name="Google Shape;67;p17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1" name="Google Shape;71;p18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obj">
  <p:cSld name="OBJECT">
    <p:bg>
      <p:bgPr>
        <a:solidFill>
          <a:schemeClr val="lt1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1"/>
          <p:cNvSpPr/>
          <p:nvPr/>
        </p:nvSpPr>
        <p:spPr>
          <a:xfrm>
            <a:off x="0" y="-1"/>
            <a:ext cx="14620247" cy="8219453"/>
          </a:xfrm>
          <a:custGeom>
            <a:rect b="b" l="l" r="r" t="t"/>
            <a:pathLst>
              <a:path extrusionOk="0"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75C4C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81" name="Google Shape;81;p21"/>
          <p:cNvSpPr/>
          <p:nvPr/>
        </p:nvSpPr>
        <p:spPr>
          <a:xfrm>
            <a:off x="0" y="0"/>
            <a:ext cx="3116448" cy="2980313"/>
          </a:xfrm>
          <a:custGeom>
            <a:rect b="b" l="l" r="r" t="t"/>
            <a:pathLst>
              <a:path extrusionOk="0" h="3729990" w="3898265">
                <a:moveTo>
                  <a:pt x="0" y="3190686"/>
                </a:moveTo>
                <a:lnTo>
                  <a:pt x="0" y="3727304"/>
                </a:lnTo>
                <a:lnTo>
                  <a:pt x="40117" y="3729481"/>
                </a:lnTo>
                <a:lnTo>
                  <a:pt x="397136" y="3729481"/>
                </a:lnTo>
                <a:lnTo>
                  <a:pt x="480739" y="3724531"/>
                </a:lnTo>
                <a:lnTo>
                  <a:pt x="529409" y="3720729"/>
                </a:lnTo>
                <a:lnTo>
                  <a:pt x="577999" y="3716284"/>
                </a:lnTo>
                <a:lnTo>
                  <a:pt x="626501" y="3711198"/>
                </a:lnTo>
                <a:lnTo>
                  <a:pt x="674910" y="3705472"/>
                </a:lnTo>
                <a:lnTo>
                  <a:pt x="723220" y="3699107"/>
                </a:lnTo>
                <a:lnTo>
                  <a:pt x="771423" y="3692107"/>
                </a:lnTo>
                <a:lnTo>
                  <a:pt x="819514" y="3684471"/>
                </a:lnTo>
                <a:lnTo>
                  <a:pt x="867486" y="3676202"/>
                </a:lnTo>
                <a:lnTo>
                  <a:pt x="915333" y="3667302"/>
                </a:lnTo>
                <a:lnTo>
                  <a:pt x="963049" y="3657772"/>
                </a:lnTo>
                <a:lnTo>
                  <a:pt x="1010626" y="3647614"/>
                </a:lnTo>
                <a:lnTo>
                  <a:pt x="1058060" y="3636830"/>
                </a:lnTo>
                <a:lnTo>
                  <a:pt x="1105344" y="3625420"/>
                </a:lnTo>
                <a:lnTo>
                  <a:pt x="1152470" y="3613388"/>
                </a:lnTo>
                <a:lnTo>
                  <a:pt x="1199434" y="3600734"/>
                </a:lnTo>
                <a:lnTo>
                  <a:pt x="1246228" y="3587460"/>
                </a:lnTo>
                <a:lnTo>
                  <a:pt x="1292847" y="3573568"/>
                </a:lnTo>
                <a:lnTo>
                  <a:pt x="1339283" y="3559059"/>
                </a:lnTo>
                <a:lnTo>
                  <a:pt x="1385531" y="3543936"/>
                </a:lnTo>
                <a:lnTo>
                  <a:pt x="1431585" y="3528199"/>
                </a:lnTo>
                <a:lnTo>
                  <a:pt x="1477437" y="3511851"/>
                </a:lnTo>
                <a:lnTo>
                  <a:pt x="1523082" y="3494893"/>
                </a:lnTo>
                <a:lnTo>
                  <a:pt x="1568513" y="3477327"/>
                </a:lnTo>
                <a:lnTo>
                  <a:pt x="1613724" y="3459154"/>
                </a:lnTo>
                <a:lnTo>
                  <a:pt x="1658709" y="3440376"/>
                </a:lnTo>
                <a:lnTo>
                  <a:pt x="1703461" y="3420995"/>
                </a:lnTo>
                <a:lnTo>
                  <a:pt x="1747974" y="3401013"/>
                </a:lnTo>
                <a:lnTo>
                  <a:pt x="1792242" y="3380431"/>
                </a:lnTo>
                <a:lnTo>
                  <a:pt x="1836258" y="3359250"/>
                </a:lnTo>
                <a:lnTo>
                  <a:pt x="1880016" y="3337473"/>
                </a:lnTo>
                <a:lnTo>
                  <a:pt x="1923510" y="3315101"/>
                </a:lnTo>
                <a:lnTo>
                  <a:pt x="1966732" y="3292135"/>
                </a:lnTo>
                <a:lnTo>
                  <a:pt x="2009678" y="3268579"/>
                </a:lnTo>
                <a:lnTo>
                  <a:pt x="2052341" y="3244432"/>
                </a:lnTo>
                <a:lnTo>
                  <a:pt x="2094713" y="3219697"/>
                </a:lnTo>
                <a:lnTo>
                  <a:pt x="2130311" y="3198274"/>
                </a:lnTo>
                <a:lnTo>
                  <a:pt x="198929" y="3198274"/>
                </a:lnTo>
                <a:lnTo>
                  <a:pt x="150029" y="3197585"/>
                </a:lnTo>
                <a:lnTo>
                  <a:pt x="101093" y="3196132"/>
                </a:lnTo>
                <a:lnTo>
                  <a:pt x="52131" y="3193914"/>
                </a:lnTo>
                <a:lnTo>
                  <a:pt x="3151" y="3190928"/>
                </a:lnTo>
                <a:lnTo>
                  <a:pt x="0" y="3190686"/>
                </a:lnTo>
                <a:close/>
              </a:path>
              <a:path extrusionOk="0" h="3729990" w="3898265">
                <a:moveTo>
                  <a:pt x="3897433" y="0"/>
                </a:moveTo>
                <a:lnTo>
                  <a:pt x="3361802" y="0"/>
                </a:lnTo>
                <a:lnTo>
                  <a:pt x="3362288" y="32095"/>
                </a:lnTo>
                <a:lnTo>
                  <a:pt x="3362186" y="85989"/>
                </a:lnTo>
                <a:lnTo>
                  <a:pt x="3361460" y="130698"/>
                </a:lnTo>
                <a:lnTo>
                  <a:pt x="3359889" y="179872"/>
                </a:lnTo>
                <a:lnTo>
                  <a:pt x="3357553" y="228949"/>
                </a:lnTo>
                <a:lnTo>
                  <a:pt x="3354453" y="277923"/>
                </a:lnTo>
                <a:lnTo>
                  <a:pt x="3350594" y="326783"/>
                </a:lnTo>
                <a:lnTo>
                  <a:pt x="3345978" y="375522"/>
                </a:lnTo>
                <a:lnTo>
                  <a:pt x="3340609" y="424132"/>
                </a:lnTo>
                <a:lnTo>
                  <a:pt x="3334490" y="472605"/>
                </a:lnTo>
                <a:lnTo>
                  <a:pt x="3327624" y="520932"/>
                </a:lnTo>
                <a:lnTo>
                  <a:pt x="3320016" y="569105"/>
                </a:lnTo>
                <a:lnTo>
                  <a:pt x="3311667" y="617116"/>
                </a:lnTo>
                <a:lnTo>
                  <a:pt x="3302582" y="664957"/>
                </a:lnTo>
                <a:lnTo>
                  <a:pt x="3292763" y="712618"/>
                </a:lnTo>
                <a:lnTo>
                  <a:pt x="3282214" y="760093"/>
                </a:lnTo>
                <a:lnTo>
                  <a:pt x="3270939" y="807373"/>
                </a:lnTo>
                <a:lnTo>
                  <a:pt x="3258940" y="854449"/>
                </a:lnTo>
                <a:lnTo>
                  <a:pt x="3246221" y="901314"/>
                </a:lnTo>
                <a:lnTo>
                  <a:pt x="3232785" y="947958"/>
                </a:lnTo>
                <a:lnTo>
                  <a:pt x="3218635" y="994375"/>
                </a:lnTo>
                <a:lnTo>
                  <a:pt x="3203775" y="1040555"/>
                </a:lnTo>
                <a:lnTo>
                  <a:pt x="3188208" y="1086490"/>
                </a:lnTo>
                <a:lnTo>
                  <a:pt x="3171938" y="1132173"/>
                </a:lnTo>
                <a:lnTo>
                  <a:pt x="3154967" y="1177594"/>
                </a:lnTo>
                <a:lnTo>
                  <a:pt x="3137299" y="1222746"/>
                </a:lnTo>
                <a:lnTo>
                  <a:pt x="3118938" y="1267620"/>
                </a:lnTo>
                <a:lnTo>
                  <a:pt x="3099886" y="1312209"/>
                </a:lnTo>
                <a:lnTo>
                  <a:pt x="3080147" y="1356503"/>
                </a:lnTo>
                <a:lnTo>
                  <a:pt x="3059723" y="1400495"/>
                </a:lnTo>
                <a:lnTo>
                  <a:pt x="3038620" y="1444176"/>
                </a:lnTo>
                <a:lnTo>
                  <a:pt x="3016839" y="1487539"/>
                </a:lnTo>
                <a:lnTo>
                  <a:pt x="2994384" y="1530574"/>
                </a:lnTo>
                <a:lnTo>
                  <a:pt x="2971259" y="1573274"/>
                </a:lnTo>
                <a:lnTo>
                  <a:pt x="2947466" y="1615630"/>
                </a:lnTo>
                <a:lnTo>
                  <a:pt x="2923009" y="1657635"/>
                </a:lnTo>
                <a:lnTo>
                  <a:pt x="2897891" y="1699279"/>
                </a:lnTo>
                <a:lnTo>
                  <a:pt x="2872116" y="1740555"/>
                </a:lnTo>
                <a:lnTo>
                  <a:pt x="2845687" y="1781454"/>
                </a:lnTo>
                <a:lnTo>
                  <a:pt x="2818606" y="1821969"/>
                </a:lnTo>
                <a:lnTo>
                  <a:pt x="2790879" y="1862090"/>
                </a:lnTo>
                <a:lnTo>
                  <a:pt x="2762507" y="1901810"/>
                </a:lnTo>
                <a:lnTo>
                  <a:pt x="2733494" y="1941121"/>
                </a:lnTo>
                <a:lnTo>
                  <a:pt x="2703843" y="1980013"/>
                </a:lnTo>
                <a:lnTo>
                  <a:pt x="2673558" y="2018480"/>
                </a:lnTo>
                <a:lnTo>
                  <a:pt x="2642642" y="2056512"/>
                </a:lnTo>
                <a:lnTo>
                  <a:pt x="2611098" y="2094102"/>
                </a:lnTo>
                <a:lnTo>
                  <a:pt x="2578930" y="2131241"/>
                </a:lnTo>
                <a:lnTo>
                  <a:pt x="2546141" y="2167921"/>
                </a:lnTo>
                <a:lnTo>
                  <a:pt x="2512733" y="2204133"/>
                </a:lnTo>
                <a:lnTo>
                  <a:pt x="2478712" y="2239870"/>
                </a:lnTo>
                <a:lnTo>
                  <a:pt x="2444079" y="2275123"/>
                </a:lnTo>
                <a:lnTo>
                  <a:pt x="2408837" y="2309884"/>
                </a:lnTo>
                <a:lnTo>
                  <a:pt x="2372992" y="2344145"/>
                </a:lnTo>
                <a:lnTo>
                  <a:pt x="2336545" y="2377897"/>
                </a:lnTo>
                <a:lnTo>
                  <a:pt x="2299499" y="2411133"/>
                </a:lnTo>
                <a:lnTo>
                  <a:pt x="2261934" y="2443779"/>
                </a:lnTo>
                <a:lnTo>
                  <a:pt x="2223930" y="2475768"/>
                </a:lnTo>
                <a:lnTo>
                  <a:pt x="2185496" y="2507097"/>
                </a:lnTo>
                <a:lnTo>
                  <a:pt x="2146640" y="2537764"/>
                </a:lnTo>
                <a:lnTo>
                  <a:pt x="2107371" y="2567767"/>
                </a:lnTo>
                <a:lnTo>
                  <a:pt x="2067698" y="2597104"/>
                </a:lnTo>
                <a:lnTo>
                  <a:pt x="2027629" y="2625772"/>
                </a:lnTo>
                <a:lnTo>
                  <a:pt x="1987173" y="2653768"/>
                </a:lnTo>
                <a:lnTo>
                  <a:pt x="1946338" y="2681092"/>
                </a:lnTo>
                <a:lnTo>
                  <a:pt x="1905133" y="2707740"/>
                </a:lnTo>
                <a:lnTo>
                  <a:pt x="1863567" y="2733711"/>
                </a:lnTo>
                <a:lnTo>
                  <a:pt x="1821648" y="2759001"/>
                </a:lnTo>
                <a:lnTo>
                  <a:pt x="1779385" y="2783609"/>
                </a:lnTo>
                <a:lnTo>
                  <a:pt x="1736786" y="2807533"/>
                </a:lnTo>
                <a:lnTo>
                  <a:pt x="1693860" y="2830770"/>
                </a:lnTo>
                <a:lnTo>
                  <a:pt x="1650615" y="2853318"/>
                </a:lnTo>
                <a:lnTo>
                  <a:pt x="1607061" y="2875175"/>
                </a:lnTo>
                <a:lnTo>
                  <a:pt x="1563205" y="2896338"/>
                </a:lnTo>
                <a:lnTo>
                  <a:pt x="1519056" y="2916806"/>
                </a:lnTo>
                <a:lnTo>
                  <a:pt x="1474624" y="2936575"/>
                </a:lnTo>
                <a:lnTo>
                  <a:pt x="1429915" y="2955645"/>
                </a:lnTo>
                <a:lnTo>
                  <a:pt x="1384940" y="2974011"/>
                </a:lnTo>
                <a:lnTo>
                  <a:pt x="1339707" y="2991673"/>
                </a:lnTo>
                <a:lnTo>
                  <a:pt x="1294223" y="3008628"/>
                </a:lnTo>
                <a:lnTo>
                  <a:pt x="1248499" y="3024874"/>
                </a:lnTo>
                <a:lnTo>
                  <a:pt x="1202542" y="3040408"/>
                </a:lnTo>
                <a:lnTo>
                  <a:pt x="1156361" y="3055229"/>
                </a:lnTo>
                <a:lnTo>
                  <a:pt x="1109965" y="3069333"/>
                </a:lnTo>
                <a:lnTo>
                  <a:pt x="1063361" y="3082719"/>
                </a:lnTo>
                <a:lnTo>
                  <a:pt x="1016560" y="3095385"/>
                </a:lnTo>
                <a:lnTo>
                  <a:pt x="969569" y="3107328"/>
                </a:lnTo>
                <a:lnTo>
                  <a:pt x="922397" y="3118545"/>
                </a:lnTo>
                <a:lnTo>
                  <a:pt x="875052" y="3129036"/>
                </a:lnTo>
                <a:lnTo>
                  <a:pt x="827543" y="3138797"/>
                </a:lnTo>
                <a:lnTo>
                  <a:pt x="779880" y="3147826"/>
                </a:lnTo>
                <a:lnTo>
                  <a:pt x="732069" y="3156121"/>
                </a:lnTo>
                <a:lnTo>
                  <a:pt x="684121" y="3163679"/>
                </a:lnTo>
                <a:lnTo>
                  <a:pt x="636043" y="3170500"/>
                </a:lnTo>
                <a:lnTo>
                  <a:pt x="587844" y="3176579"/>
                </a:lnTo>
                <a:lnTo>
                  <a:pt x="539532" y="3181915"/>
                </a:lnTo>
                <a:lnTo>
                  <a:pt x="491117" y="3186506"/>
                </a:lnTo>
                <a:lnTo>
                  <a:pt x="442607" y="3190350"/>
                </a:lnTo>
                <a:lnTo>
                  <a:pt x="394010" y="3193443"/>
                </a:lnTo>
                <a:lnTo>
                  <a:pt x="345336" y="3195785"/>
                </a:lnTo>
                <a:lnTo>
                  <a:pt x="296591" y="3197372"/>
                </a:lnTo>
                <a:lnTo>
                  <a:pt x="243572" y="3198274"/>
                </a:lnTo>
                <a:lnTo>
                  <a:pt x="2130311" y="3198274"/>
                </a:lnTo>
                <a:lnTo>
                  <a:pt x="2178565" y="3168468"/>
                </a:lnTo>
                <a:lnTo>
                  <a:pt x="2220030" y="3141978"/>
                </a:lnTo>
                <a:lnTo>
                  <a:pt x="2261181" y="3114907"/>
                </a:lnTo>
                <a:lnTo>
                  <a:pt x="2302010" y="3087255"/>
                </a:lnTo>
                <a:lnTo>
                  <a:pt x="2342512" y="3059025"/>
                </a:lnTo>
                <a:lnTo>
                  <a:pt x="2382680" y="3030219"/>
                </a:lnTo>
                <a:lnTo>
                  <a:pt x="2422507" y="3000837"/>
                </a:lnTo>
                <a:lnTo>
                  <a:pt x="2461988" y="2970882"/>
                </a:lnTo>
                <a:lnTo>
                  <a:pt x="2501115" y="2940356"/>
                </a:lnTo>
                <a:lnTo>
                  <a:pt x="2539884" y="2909260"/>
                </a:lnTo>
                <a:lnTo>
                  <a:pt x="2578286" y="2877595"/>
                </a:lnTo>
                <a:lnTo>
                  <a:pt x="2616317" y="2845363"/>
                </a:lnTo>
                <a:lnTo>
                  <a:pt x="2653969" y="2812567"/>
                </a:lnTo>
                <a:lnTo>
                  <a:pt x="2691174" y="2779263"/>
                </a:lnTo>
                <a:lnTo>
                  <a:pt x="2727865" y="2745514"/>
                </a:lnTo>
                <a:lnTo>
                  <a:pt x="2764040" y="2711326"/>
                </a:lnTo>
                <a:lnTo>
                  <a:pt x="2799696" y="2676704"/>
                </a:lnTo>
                <a:lnTo>
                  <a:pt x="2834831" y="2641656"/>
                </a:lnTo>
                <a:lnTo>
                  <a:pt x="2869443" y="2606186"/>
                </a:lnTo>
                <a:lnTo>
                  <a:pt x="2903528" y="2570302"/>
                </a:lnTo>
                <a:lnTo>
                  <a:pt x="2937085" y="2534008"/>
                </a:lnTo>
                <a:lnTo>
                  <a:pt x="2970111" y="2497312"/>
                </a:lnTo>
                <a:lnTo>
                  <a:pt x="3002604" y="2460219"/>
                </a:lnTo>
                <a:lnTo>
                  <a:pt x="3034561" y="2422735"/>
                </a:lnTo>
                <a:lnTo>
                  <a:pt x="3065980" y="2384867"/>
                </a:lnTo>
                <a:lnTo>
                  <a:pt x="3096859" y="2346620"/>
                </a:lnTo>
                <a:lnTo>
                  <a:pt x="3127194" y="2308000"/>
                </a:lnTo>
                <a:lnTo>
                  <a:pt x="3156984" y="2269015"/>
                </a:lnTo>
                <a:lnTo>
                  <a:pt x="3186226" y="2229669"/>
                </a:lnTo>
                <a:lnTo>
                  <a:pt x="3214918" y="2189969"/>
                </a:lnTo>
                <a:lnTo>
                  <a:pt x="3243057" y="2149921"/>
                </a:lnTo>
                <a:lnTo>
                  <a:pt x="3270641" y="2109531"/>
                </a:lnTo>
                <a:lnTo>
                  <a:pt x="3297667" y="2068804"/>
                </a:lnTo>
                <a:lnTo>
                  <a:pt x="3324133" y="2027748"/>
                </a:lnTo>
                <a:lnTo>
                  <a:pt x="3350037" y="1986368"/>
                </a:lnTo>
                <a:lnTo>
                  <a:pt x="3375376" y="1944671"/>
                </a:lnTo>
                <a:lnTo>
                  <a:pt x="3400147" y="1902661"/>
                </a:lnTo>
                <a:lnTo>
                  <a:pt x="3424349" y="1860347"/>
                </a:lnTo>
                <a:lnTo>
                  <a:pt x="3447978" y="1817732"/>
                </a:lnTo>
                <a:lnTo>
                  <a:pt x="3471033" y="1774824"/>
                </a:lnTo>
                <a:lnTo>
                  <a:pt x="3493511" y="1731629"/>
                </a:lnTo>
                <a:lnTo>
                  <a:pt x="3515409" y="1688153"/>
                </a:lnTo>
                <a:lnTo>
                  <a:pt x="3536726" y="1644401"/>
                </a:lnTo>
                <a:lnTo>
                  <a:pt x="3557458" y="1600381"/>
                </a:lnTo>
                <a:lnTo>
                  <a:pt x="3577603" y="1556097"/>
                </a:lnTo>
                <a:lnTo>
                  <a:pt x="3597159" y="1511556"/>
                </a:lnTo>
                <a:lnTo>
                  <a:pt x="3616123" y="1466764"/>
                </a:lnTo>
                <a:lnTo>
                  <a:pt x="3634493" y="1421728"/>
                </a:lnTo>
                <a:lnTo>
                  <a:pt x="3652267" y="1376453"/>
                </a:lnTo>
                <a:lnTo>
                  <a:pt x="3669442" y="1330945"/>
                </a:lnTo>
                <a:lnTo>
                  <a:pt x="3686015" y="1285211"/>
                </a:lnTo>
                <a:lnTo>
                  <a:pt x="3701984" y="1239256"/>
                </a:lnTo>
                <a:lnTo>
                  <a:pt x="3717348" y="1193087"/>
                </a:lnTo>
                <a:lnTo>
                  <a:pt x="3732102" y="1146709"/>
                </a:lnTo>
                <a:lnTo>
                  <a:pt x="3746246" y="1100129"/>
                </a:lnTo>
                <a:lnTo>
                  <a:pt x="3759775" y="1053353"/>
                </a:lnTo>
                <a:lnTo>
                  <a:pt x="3772689" y="1006387"/>
                </a:lnTo>
                <a:lnTo>
                  <a:pt x="3784985" y="959236"/>
                </a:lnTo>
                <a:lnTo>
                  <a:pt x="3796659" y="911908"/>
                </a:lnTo>
                <a:lnTo>
                  <a:pt x="3807711" y="864408"/>
                </a:lnTo>
                <a:lnTo>
                  <a:pt x="3818136" y="816742"/>
                </a:lnTo>
                <a:lnTo>
                  <a:pt x="3827934" y="768916"/>
                </a:lnTo>
                <a:lnTo>
                  <a:pt x="3837100" y="720937"/>
                </a:lnTo>
                <a:lnTo>
                  <a:pt x="3845634" y="672810"/>
                </a:lnTo>
                <a:lnTo>
                  <a:pt x="3853533" y="624542"/>
                </a:lnTo>
                <a:lnTo>
                  <a:pt x="3860793" y="576138"/>
                </a:lnTo>
                <a:lnTo>
                  <a:pt x="3867413" y="527605"/>
                </a:lnTo>
                <a:lnTo>
                  <a:pt x="3873391" y="478949"/>
                </a:lnTo>
                <a:lnTo>
                  <a:pt x="3878723" y="430175"/>
                </a:lnTo>
                <a:lnTo>
                  <a:pt x="3883408" y="381290"/>
                </a:lnTo>
                <a:lnTo>
                  <a:pt x="3887442" y="332301"/>
                </a:lnTo>
                <a:lnTo>
                  <a:pt x="3890824" y="283212"/>
                </a:lnTo>
                <a:lnTo>
                  <a:pt x="3893552" y="234030"/>
                </a:lnTo>
                <a:lnTo>
                  <a:pt x="3895621" y="184762"/>
                </a:lnTo>
                <a:lnTo>
                  <a:pt x="3897032" y="135413"/>
                </a:lnTo>
                <a:lnTo>
                  <a:pt x="3897780" y="85989"/>
                </a:lnTo>
                <a:lnTo>
                  <a:pt x="3897811" y="32095"/>
                </a:lnTo>
                <a:lnTo>
                  <a:pt x="3897433" y="0"/>
                </a:lnTo>
                <a:close/>
              </a:path>
            </a:pathLst>
          </a:custGeom>
          <a:solidFill>
            <a:srgbClr val="FBBC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82" name="Google Shape;82;p21"/>
          <p:cNvSpPr/>
          <p:nvPr/>
        </p:nvSpPr>
        <p:spPr>
          <a:xfrm>
            <a:off x="1131992" y="638814"/>
            <a:ext cx="12356647" cy="6941886"/>
          </a:xfrm>
          <a:custGeom>
            <a:rect b="b" l="l" r="r" t="t"/>
            <a:pathLst>
              <a:path extrusionOk="0" h="8688070" w="15456535">
                <a:moveTo>
                  <a:pt x="15455976" y="0"/>
                </a:moveTo>
                <a:lnTo>
                  <a:pt x="0" y="0"/>
                </a:lnTo>
                <a:lnTo>
                  <a:pt x="0" y="7239965"/>
                </a:lnTo>
                <a:lnTo>
                  <a:pt x="862" y="7289961"/>
                </a:lnTo>
                <a:lnTo>
                  <a:pt x="3438" y="7339738"/>
                </a:lnTo>
                <a:lnTo>
                  <a:pt x="7712" y="7389257"/>
                </a:lnTo>
                <a:lnTo>
                  <a:pt x="13666" y="7438478"/>
                </a:lnTo>
                <a:lnTo>
                  <a:pt x="21285" y="7487361"/>
                </a:lnTo>
                <a:lnTo>
                  <a:pt x="30551" y="7535866"/>
                </a:lnTo>
                <a:lnTo>
                  <a:pt x="41448" y="7583952"/>
                </a:lnTo>
                <a:lnTo>
                  <a:pt x="53960" y="7631581"/>
                </a:lnTo>
                <a:lnTo>
                  <a:pt x="68069" y="7678711"/>
                </a:lnTo>
                <a:lnTo>
                  <a:pt x="83761" y="7725304"/>
                </a:lnTo>
                <a:lnTo>
                  <a:pt x="101016" y="7771319"/>
                </a:lnTo>
                <a:lnTo>
                  <a:pt x="119821" y="7816715"/>
                </a:lnTo>
                <a:lnTo>
                  <a:pt x="140156" y="7861454"/>
                </a:lnTo>
                <a:lnTo>
                  <a:pt x="162007" y="7905495"/>
                </a:lnTo>
                <a:lnTo>
                  <a:pt x="185357" y="7948798"/>
                </a:lnTo>
                <a:lnTo>
                  <a:pt x="210189" y="7991324"/>
                </a:lnTo>
                <a:lnTo>
                  <a:pt x="236486" y="8033032"/>
                </a:lnTo>
                <a:lnTo>
                  <a:pt x="264232" y="8073882"/>
                </a:lnTo>
                <a:lnTo>
                  <a:pt x="293410" y="8113835"/>
                </a:lnTo>
                <a:lnTo>
                  <a:pt x="324004" y="8152849"/>
                </a:lnTo>
                <a:lnTo>
                  <a:pt x="355998" y="8190887"/>
                </a:lnTo>
                <a:lnTo>
                  <a:pt x="389374" y="8227907"/>
                </a:lnTo>
                <a:lnTo>
                  <a:pt x="424116" y="8263869"/>
                </a:lnTo>
                <a:lnTo>
                  <a:pt x="460078" y="8298612"/>
                </a:lnTo>
                <a:lnTo>
                  <a:pt x="497097" y="8331989"/>
                </a:lnTo>
                <a:lnTo>
                  <a:pt x="535134" y="8363983"/>
                </a:lnTo>
                <a:lnTo>
                  <a:pt x="574149" y="8394577"/>
                </a:lnTo>
                <a:lnTo>
                  <a:pt x="614101" y="8423756"/>
                </a:lnTo>
                <a:lnTo>
                  <a:pt x="654951" y="8451502"/>
                </a:lnTo>
                <a:lnTo>
                  <a:pt x="696658" y="8477800"/>
                </a:lnTo>
                <a:lnTo>
                  <a:pt x="739184" y="8502632"/>
                </a:lnTo>
                <a:lnTo>
                  <a:pt x="782487" y="8525981"/>
                </a:lnTo>
                <a:lnTo>
                  <a:pt x="826528" y="8547833"/>
                </a:lnTo>
                <a:lnTo>
                  <a:pt x="871267" y="8568169"/>
                </a:lnTo>
                <a:lnTo>
                  <a:pt x="916664" y="8586973"/>
                </a:lnTo>
                <a:lnTo>
                  <a:pt x="962679" y="8604229"/>
                </a:lnTo>
                <a:lnTo>
                  <a:pt x="1009272" y="8619920"/>
                </a:lnTo>
                <a:lnTo>
                  <a:pt x="1056403" y="8634029"/>
                </a:lnTo>
                <a:lnTo>
                  <a:pt x="1104032" y="8646541"/>
                </a:lnTo>
                <a:lnTo>
                  <a:pt x="1152120" y="8657438"/>
                </a:lnTo>
                <a:lnTo>
                  <a:pt x="1200625" y="8666704"/>
                </a:lnTo>
                <a:lnTo>
                  <a:pt x="1249509" y="8674323"/>
                </a:lnTo>
                <a:lnTo>
                  <a:pt x="1298731" y="8680277"/>
                </a:lnTo>
                <a:lnTo>
                  <a:pt x="1348252" y="8684551"/>
                </a:lnTo>
                <a:lnTo>
                  <a:pt x="1398031" y="8687127"/>
                </a:lnTo>
                <a:lnTo>
                  <a:pt x="1448028" y="8687990"/>
                </a:lnTo>
                <a:lnTo>
                  <a:pt x="15455976" y="8687990"/>
                </a:lnTo>
                <a:lnTo>
                  <a:pt x="15455976" y="0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83" name="Google Shape;83;p21"/>
          <p:cNvSpPr/>
          <p:nvPr/>
        </p:nvSpPr>
        <p:spPr>
          <a:xfrm>
            <a:off x="10394792" y="6243224"/>
            <a:ext cx="2726067" cy="1354688"/>
          </a:xfrm>
          <a:custGeom>
            <a:rect b="b" l="l" r="r" t="t"/>
            <a:pathLst>
              <a:path extrusionOk="0" h="1695450" w="3409950">
                <a:moveTo>
                  <a:pt x="1698751" y="0"/>
                </a:moveTo>
                <a:lnTo>
                  <a:pt x="1650604" y="866"/>
                </a:lnTo>
                <a:lnTo>
                  <a:pt x="1602788" y="3042"/>
                </a:lnTo>
                <a:lnTo>
                  <a:pt x="1555323" y="6522"/>
                </a:lnTo>
                <a:lnTo>
                  <a:pt x="1508226" y="11289"/>
                </a:lnTo>
                <a:lnTo>
                  <a:pt x="1461514" y="17323"/>
                </a:lnTo>
                <a:lnTo>
                  <a:pt x="1415205" y="24609"/>
                </a:lnTo>
                <a:lnTo>
                  <a:pt x="1369316" y="33129"/>
                </a:lnTo>
                <a:lnTo>
                  <a:pt x="1323867" y="42864"/>
                </a:lnTo>
                <a:lnTo>
                  <a:pt x="1278873" y="53798"/>
                </a:lnTo>
                <a:lnTo>
                  <a:pt x="1234352" y="65912"/>
                </a:lnTo>
                <a:lnTo>
                  <a:pt x="1190323" y="79190"/>
                </a:lnTo>
                <a:lnTo>
                  <a:pt x="1146803" y="93614"/>
                </a:lnTo>
                <a:lnTo>
                  <a:pt x="1103809" y="109165"/>
                </a:lnTo>
                <a:lnTo>
                  <a:pt x="1061359" y="125828"/>
                </a:lnTo>
                <a:lnTo>
                  <a:pt x="1019471" y="143583"/>
                </a:lnTo>
                <a:lnTo>
                  <a:pt x="978163" y="162414"/>
                </a:lnTo>
                <a:lnTo>
                  <a:pt x="937451" y="182303"/>
                </a:lnTo>
                <a:lnTo>
                  <a:pt x="897354" y="203232"/>
                </a:lnTo>
                <a:lnTo>
                  <a:pt x="857890" y="225184"/>
                </a:lnTo>
                <a:lnTo>
                  <a:pt x="819075" y="248141"/>
                </a:lnTo>
                <a:lnTo>
                  <a:pt x="780929" y="272086"/>
                </a:lnTo>
                <a:lnTo>
                  <a:pt x="743467" y="297001"/>
                </a:lnTo>
                <a:lnTo>
                  <a:pt x="706708" y="322869"/>
                </a:lnTo>
                <a:lnTo>
                  <a:pt x="670670" y="349672"/>
                </a:lnTo>
                <a:lnTo>
                  <a:pt x="635370" y="377392"/>
                </a:lnTo>
                <a:lnTo>
                  <a:pt x="600825" y="406012"/>
                </a:lnTo>
                <a:lnTo>
                  <a:pt x="567055" y="435515"/>
                </a:lnTo>
                <a:lnTo>
                  <a:pt x="534075" y="465882"/>
                </a:lnTo>
                <a:lnTo>
                  <a:pt x="501903" y="497096"/>
                </a:lnTo>
                <a:lnTo>
                  <a:pt x="470559" y="529141"/>
                </a:lnTo>
                <a:lnTo>
                  <a:pt x="440058" y="561997"/>
                </a:lnTo>
                <a:lnTo>
                  <a:pt x="410418" y="595648"/>
                </a:lnTo>
                <a:lnTo>
                  <a:pt x="381658" y="630076"/>
                </a:lnTo>
                <a:lnTo>
                  <a:pt x="353795" y="665263"/>
                </a:lnTo>
                <a:lnTo>
                  <a:pt x="326847" y="701193"/>
                </a:lnTo>
                <a:lnTo>
                  <a:pt x="300830" y="737846"/>
                </a:lnTo>
                <a:lnTo>
                  <a:pt x="275764" y="775207"/>
                </a:lnTo>
                <a:lnTo>
                  <a:pt x="251664" y="813256"/>
                </a:lnTo>
                <a:lnTo>
                  <a:pt x="228550" y="851978"/>
                </a:lnTo>
                <a:lnTo>
                  <a:pt x="206439" y="891353"/>
                </a:lnTo>
                <a:lnTo>
                  <a:pt x="185347" y="931365"/>
                </a:lnTo>
                <a:lnTo>
                  <a:pt x="165294" y="971996"/>
                </a:lnTo>
                <a:lnTo>
                  <a:pt x="146297" y="1013229"/>
                </a:lnTo>
                <a:lnTo>
                  <a:pt x="128372" y="1055045"/>
                </a:lnTo>
                <a:lnTo>
                  <a:pt x="111539" y="1097428"/>
                </a:lnTo>
                <a:lnTo>
                  <a:pt x="95814" y="1140360"/>
                </a:lnTo>
                <a:lnTo>
                  <a:pt x="81215" y="1183822"/>
                </a:lnTo>
                <a:lnTo>
                  <a:pt x="67760" y="1227799"/>
                </a:lnTo>
                <a:lnTo>
                  <a:pt x="55467" y="1272271"/>
                </a:lnTo>
                <a:lnTo>
                  <a:pt x="44352" y="1317222"/>
                </a:lnTo>
                <a:lnTo>
                  <a:pt x="34434" y="1362634"/>
                </a:lnTo>
                <a:lnTo>
                  <a:pt x="25731" y="1408490"/>
                </a:lnTo>
                <a:lnTo>
                  <a:pt x="18260" y="1454771"/>
                </a:lnTo>
                <a:lnTo>
                  <a:pt x="12038" y="1501461"/>
                </a:lnTo>
                <a:lnTo>
                  <a:pt x="7083" y="1548541"/>
                </a:lnTo>
                <a:lnTo>
                  <a:pt x="3414" y="1595995"/>
                </a:lnTo>
                <a:lnTo>
                  <a:pt x="1046" y="1643804"/>
                </a:lnTo>
                <a:lnTo>
                  <a:pt x="0" y="1691952"/>
                </a:lnTo>
                <a:lnTo>
                  <a:pt x="440936" y="1695449"/>
                </a:lnTo>
                <a:lnTo>
                  <a:pt x="853810" y="1695449"/>
                </a:lnTo>
                <a:lnTo>
                  <a:pt x="855399" y="1650799"/>
                </a:lnTo>
                <a:lnTo>
                  <a:pt x="859706" y="1603584"/>
                </a:lnTo>
                <a:lnTo>
                  <a:pt x="866544" y="1557151"/>
                </a:lnTo>
                <a:lnTo>
                  <a:pt x="875842" y="1511568"/>
                </a:lnTo>
                <a:lnTo>
                  <a:pt x="887532" y="1466906"/>
                </a:lnTo>
                <a:lnTo>
                  <a:pt x="901541" y="1423235"/>
                </a:lnTo>
                <a:lnTo>
                  <a:pt x="917800" y="1380626"/>
                </a:lnTo>
                <a:lnTo>
                  <a:pt x="936238" y="1339148"/>
                </a:lnTo>
                <a:lnTo>
                  <a:pt x="956785" y="1298871"/>
                </a:lnTo>
                <a:lnTo>
                  <a:pt x="979371" y="1259867"/>
                </a:lnTo>
                <a:lnTo>
                  <a:pt x="1003924" y="1222204"/>
                </a:lnTo>
                <a:lnTo>
                  <a:pt x="1030375" y="1185953"/>
                </a:lnTo>
                <a:lnTo>
                  <a:pt x="1058654" y="1151185"/>
                </a:lnTo>
                <a:lnTo>
                  <a:pt x="1088689" y="1117968"/>
                </a:lnTo>
                <a:lnTo>
                  <a:pt x="1120411" y="1086375"/>
                </a:lnTo>
                <a:lnTo>
                  <a:pt x="1153749" y="1056473"/>
                </a:lnTo>
                <a:lnTo>
                  <a:pt x="1188633" y="1028335"/>
                </a:lnTo>
                <a:lnTo>
                  <a:pt x="1224992" y="1002030"/>
                </a:lnTo>
                <a:lnTo>
                  <a:pt x="1262756" y="977627"/>
                </a:lnTo>
                <a:lnTo>
                  <a:pt x="1301854" y="955198"/>
                </a:lnTo>
                <a:lnTo>
                  <a:pt x="1342217" y="934812"/>
                </a:lnTo>
                <a:lnTo>
                  <a:pt x="1383773" y="916540"/>
                </a:lnTo>
                <a:lnTo>
                  <a:pt x="1426453" y="900451"/>
                </a:lnTo>
                <a:lnTo>
                  <a:pt x="1470186" y="886617"/>
                </a:lnTo>
                <a:lnTo>
                  <a:pt x="1514901" y="875106"/>
                </a:lnTo>
                <a:lnTo>
                  <a:pt x="1560529" y="865989"/>
                </a:lnTo>
                <a:lnTo>
                  <a:pt x="1606998" y="859337"/>
                </a:lnTo>
                <a:lnTo>
                  <a:pt x="1654239" y="855218"/>
                </a:lnTo>
                <a:lnTo>
                  <a:pt x="1702180" y="853705"/>
                </a:lnTo>
                <a:lnTo>
                  <a:pt x="3183248" y="853705"/>
                </a:lnTo>
                <a:lnTo>
                  <a:pt x="3175687" y="840484"/>
                </a:lnTo>
                <a:lnTo>
                  <a:pt x="3152269" y="801944"/>
                </a:lnTo>
                <a:lnTo>
                  <a:pt x="3127872" y="764084"/>
                </a:lnTo>
                <a:lnTo>
                  <a:pt x="3102512" y="726920"/>
                </a:lnTo>
                <a:lnTo>
                  <a:pt x="3076208" y="690471"/>
                </a:lnTo>
                <a:lnTo>
                  <a:pt x="3048978" y="654753"/>
                </a:lnTo>
                <a:lnTo>
                  <a:pt x="3020839" y="619784"/>
                </a:lnTo>
                <a:lnTo>
                  <a:pt x="2991810" y="585582"/>
                </a:lnTo>
                <a:lnTo>
                  <a:pt x="2961907" y="552163"/>
                </a:lnTo>
                <a:lnTo>
                  <a:pt x="2931148" y="519546"/>
                </a:lnTo>
                <a:lnTo>
                  <a:pt x="2899552" y="487747"/>
                </a:lnTo>
                <a:lnTo>
                  <a:pt x="2867136" y="456785"/>
                </a:lnTo>
                <a:lnTo>
                  <a:pt x="2833918" y="426676"/>
                </a:lnTo>
                <a:lnTo>
                  <a:pt x="2799916" y="397438"/>
                </a:lnTo>
                <a:lnTo>
                  <a:pt x="2765147" y="369088"/>
                </a:lnTo>
                <a:lnTo>
                  <a:pt x="2729629" y="341644"/>
                </a:lnTo>
                <a:lnTo>
                  <a:pt x="2693381" y="315123"/>
                </a:lnTo>
                <a:lnTo>
                  <a:pt x="2656418" y="289543"/>
                </a:lnTo>
                <a:lnTo>
                  <a:pt x="2618761" y="264921"/>
                </a:lnTo>
                <a:lnTo>
                  <a:pt x="2580426" y="241275"/>
                </a:lnTo>
                <a:lnTo>
                  <a:pt x="2541430" y="218621"/>
                </a:lnTo>
                <a:lnTo>
                  <a:pt x="2501793" y="196977"/>
                </a:lnTo>
                <a:lnTo>
                  <a:pt x="2461531" y="176362"/>
                </a:lnTo>
                <a:lnTo>
                  <a:pt x="2420662" y="156791"/>
                </a:lnTo>
                <a:lnTo>
                  <a:pt x="2379204" y="138283"/>
                </a:lnTo>
                <a:lnTo>
                  <a:pt x="2337176" y="120855"/>
                </a:lnTo>
                <a:lnTo>
                  <a:pt x="2294594" y="104524"/>
                </a:lnTo>
                <a:lnTo>
                  <a:pt x="2251476" y="89308"/>
                </a:lnTo>
                <a:lnTo>
                  <a:pt x="2207840" y="75225"/>
                </a:lnTo>
                <a:lnTo>
                  <a:pt x="2163705" y="62290"/>
                </a:lnTo>
                <a:lnTo>
                  <a:pt x="2119087" y="50523"/>
                </a:lnTo>
                <a:lnTo>
                  <a:pt x="2074004" y="39941"/>
                </a:lnTo>
                <a:lnTo>
                  <a:pt x="2028475" y="30560"/>
                </a:lnTo>
                <a:lnTo>
                  <a:pt x="1982516" y="22399"/>
                </a:lnTo>
                <a:lnTo>
                  <a:pt x="1936147" y="15474"/>
                </a:lnTo>
                <a:lnTo>
                  <a:pt x="1889384" y="9803"/>
                </a:lnTo>
                <a:lnTo>
                  <a:pt x="1842245" y="5404"/>
                </a:lnTo>
                <a:lnTo>
                  <a:pt x="1794748" y="2294"/>
                </a:lnTo>
                <a:lnTo>
                  <a:pt x="1746911" y="491"/>
                </a:lnTo>
                <a:lnTo>
                  <a:pt x="1698751" y="0"/>
                </a:lnTo>
                <a:close/>
              </a:path>
              <a:path extrusionOk="0" h="1695450" w="3409950">
                <a:moveTo>
                  <a:pt x="3183248" y="853705"/>
                </a:moveTo>
                <a:lnTo>
                  <a:pt x="1702180" y="853705"/>
                </a:lnTo>
                <a:lnTo>
                  <a:pt x="1750120" y="854844"/>
                </a:lnTo>
                <a:lnTo>
                  <a:pt x="1797379" y="858593"/>
                </a:lnTo>
                <a:lnTo>
                  <a:pt x="1843888" y="864882"/>
                </a:lnTo>
                <a:lnTo>
                  <a:pt x="1889575" y="873643"/>
                </a:lnTo>
                <a:lnTo>
                  <a:pt x="1934369" y="884804"/>
                </a:lnTo>
                <a:lnTo>
                  <a:pt x="1978200" y="898298"/>
                </a:lnTo>
                <a:lnTo>
                  <a:pt x="2020996" y="914053"/>
                </a:lnTo>
                <a:lnTo>
                  <a:pt x="2062687" y="932000"/>
                </a:lnTo>
                <a:lnTo>
                  <a:pt x="2103201" y="952071"/>
                </a:lnTo>
                <a:lnTo>
                  <a:pt x="2142467" y="974194"/>
                </a:lnTo>
                <a:lnTo>
                  <a:pt x="2180415" y="998302"/>
                </a:lnTo>
                <a:lnTo>
                  <a:pt x="2216974" y="1024323"/>
                </a:lnTo>
                <a:lnTo>
                  <a:pt x="2252072" y="1052189"/>
                </a:lnTo>
                <a:lnTo>
                  <a:pt x="2285640" y="1081829"/>
                </a:lnTo>
                <a:lnTo>
                  <a:pt x="2317605" y="1113175"/>
                </a:lnTo>
                <a:lnTo>
                  <a:pt x="2347896" y="1146156"/>
                </a:lnTo>
                <a:lnTo>
                  <a:pt x="2376444" y="1180703"/>
                </a:lnTo>
                <a:lnTo>
                  <a:pt x="2403176" y="1216746"/>
                </a:lnTo>
                <a:lnTo>
                  <a:pt x="2428023" y="1254217"/>
                </a:lnTo>
                <a:lnTo>
                  <a:pt x="2450912" y="1293044"/>
                </a:lnTo>
                <a:lnTo>
                  <a:pt x="2471774" y="1333159"/>
                </a:lnTo>
                <a:lnTo>
                  <a:pt x="2490536" y="1374492"/>
                </a:lnTo>
                <a:lnTo>
                  <a:pt x="2507129" y="1416974"/>
                </a:lnTo>
                <a:lnTo>
                  <a:pt x="2521481" y="1460534"/>
                </a:lnTo>
                <a:lnTo>
                  <a:pt x="2533521" y="1505103"/>
                </a:lnTo>
                <a:lnTo>
                  <a:pt x="2543178" y="1550612"/>
                </a:lnTo>
                <a:lnTo>
                  <a:pt x="2550382" y="1596991"/>
                </a:lnTo>
                <a:lnTo>
                  <a:pt x="2555025" y="1643804"/>
                </a:lnTo>
                <a:lnTo>
                  <a:pt x="2557139" y="1691952"/>
                </a:lnTo>
                <a:lnTo>
                  <a:pt x="2557144" y="1692080"/>
                </a:lnTo>
                <a:lnTo>
                  <a:pt x="3409949" y="1678665"/>
                </a:lnTo>
                <a:lnTo>
                  <a:pt x="3409949" y="1648653"/>
                </a:lnTo>
                <a:lnTo>
                  <a:pt x="3406668" y="1582723"/>
                </a:lnTo>
                <a:lnTo>
                  <a:pt x="3402624" y="1535300"/>
                </a:lnTo>
                <a:lnTo>
                  <a:pt x="3397299" y="1488259"/>
                </a:lnTo>
                <a:lnTo>
                  <a:pt x="3390710" y="1441619"/>
                </a:lnTo>
                <a:lnTo>
                  <a:pt x="3382874" y="1395397"/>
                </a:lnTo>
                <a:lnTo>
                  <a:pt x="3373810" y="1349611"/>
                </a:lnTo>
                <a:lnTo>
                  <a:pt x="3363536" y="1304278"/>
                </a:lnTo>
                <a:lnTo>
                  <a:pt x="3352184" y="1259867"/>
                </a:lnTo>
                <a:lnTo>
                  <a:pt x="3339425" y="1215039"/>
                </a:lnTo>
                <a:lnTo>
                  <a:pt x="3325625" y="1171169"/>
                </a:lnTo>
                <a:lnTo>
                  <a:pt x="3310685" y="1127821"/>
                </a:lnTo>
                <a:lnTo>
                  <a:pt x="3294623" y="1085014"/>
                </a:lnTo>
                <a:lnTo>
                  <a:pt x="3277457" y="1042764"/>
                </a:lnTo>
                <a:lnTo>
                  <a:pt x="3259205" y="1001089"/>
                </a:lnTo>
                <a:lnTo>
                  <a:pt x="3239884" y="960006"/>
                </a:lnTo>
                <a:lnTo>
                  <a:pt x="3219512" y="919532"/>
                </a:lnTo>
                <a:lnTo>
                  <a:pt x="3198107" y="879686"/>
                </a:lnTo>
                <a:lnTo>
                  <a:pt x="3183248" y="853705"/>
                </a:lnTo>
                <a:close/>
              </a:path>
            </a:pathLst>
          </a:custGeom>
          <a:solidFill>
            <a:srgbClr val="82828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84" name="Google Shape;84;p21"/>
          <p:cNvSpPr txBox="1"/>
          <p:nvPr>
            <p:ph idx="11" type="ftr"/>
          </p:nvPr>
        </p:nvSpPr>
        <p:spPr>
          <a:xfrm>
            <a:off x="4974336" y="7653528"/>
            <a:ext cx="4681728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0" type="dt"/>
          </p:nvPr>
        </p:nvSpPr>
        <p:spPr>
          <a:xfrm>
            <a:off x="731520" y="7653528"/>
            <a:ext cx="3364992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6" name="Google Shape;86;p21"/>
          <p:cNvSpPr txBox="1"/>
          <p:nvPr>
            <p:ph idx="12" type="sldNum"/>
          </p:nvPr>
        </p:nvSpPr>
        <p:spPr>
          <a:xfrm>
            <a:off x="10533889" y="7653528"/>
            <a:ext cx="3364992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2"/>
          <p:cNvSpPr txBox="1"/>
          <p:nvPr>
            <p:ph type="title"/>
          </p:nvPr>
        </p:nvSpPr>
        <p:spPr>
          <a:xfrm>
            <a:off x="5671732" y="1277983"/>
            <a:ext cx="7441045" cy="905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3500">
                <a:solidFill>
                  <a:srgbClr val="FBBC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9" name="Google Shape;89;p22"/>
          <p:cNvSpPr txBox="1"/>
          <p:nvPr>
            <p:ph idx="1" type="body"/>
          </p:nvPr>
        </p:nvSpPr>
        <p:spPr>
          <a:xfrm>
            <a:off x="2435713" y="2237752"/>
            <a:ext cx="9758974" cy="29579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2700">
                <a:solidFill>
                  <a:srgbClr val="27316F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0" name="Google Shape;90;p22"/>
          <p:cNvSpPr txBox="1"/>
          <p:nvPr>
            <p:ph idx="11" type="ftr"/>
          </p:nvPr>
        </p:nvSpPr>
        <p:spPr>
          <a:xfrm>
            <a:off x="4974336" y="7653528"/>
            <a:ext cx="4681728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1" name="Google Shape;91;p22"/>
          <p:cNvSpPr txBox="1"/>
          <p:nvPr>
            <p:ph idx="10" type="dt"/>
          </p:nvPr>
        </p:nvSpPr>
        <p:spPr>
          <a:xfrm>
            <a:off x="731520" y="7653528"/>
            <a:ext cx="3364992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22"/>
          <p:cNvSpPr txBox="1"/>
          <p:nvPr>
            <p:ph idx="12" type="sldNum"/>
          </p:nvPr>
        </p:nvSpPr>
        <p:spPr>
          <a:xfrm>
            <a:off x="10533889" y="7653528"/>
            <a:ext cx="3364992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3"/>
          <p:cNvSpPr txBox="1"/>
          <p:nvPr>
            <p:ph type="ctrTitle"/>
          </p:nvPr>
        </p:nvSpPr>
        <p:spPr>
          <a:xfrm>
            <a:off x="1097280" y="2551176"/>
            <a:ext cx="12435840" cy="17282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3500">
                <a:solidFill>
                  <a:srgbClr val="FBBC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5" name="Google Shape;95;p23"/>
          <p:cNvSpPr txBox="1"/>
          <p:nvPr>
            <p:ph idx="1" type="subTitle"/>
          </p:nvPr>
        </p:nvSpPr>
        <p:spPr>
          <a:xfrm>
            <a:off x="2194560" y="4608576"/>
            <a:ext cx="1024128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2700">
                <a:solidFill>
                  <a:srgbClr val="27316F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p23"/>
          <p:cNvSpPr txBox="1"/>
          <p:nvPr>
            <p:ph idx="11" type="ftr"/>
          </p:nvPr>
        </p:nvSpPr>
        <p:spPr>
          <a:xfrm>
            <a:off x="4974336" y="7653528"/>
            <a:ext cx="4681728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3"/>
          <p:cNvSpPr txBox="1"/>
          <p:nvPr>
            <p:ph idx="10" type="dt"/>
          </p:nvPr>
        </p:nvSpPr>
        <p:spPr>
          <a:xfrm>
            <a:off x="731520" y="7653528"/>
            <a:ext cx="3364992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3"/>
          <p:cNvSpPr txBox="1"/>
          <p:nvPr>
            <p:ph idx="12" type="sldNum"/>
          </p:nvPr>
        </p:nvSpPr>
        <p:spPr>
          <a:xfrm>
            <a:off x="10533889" y="7653528"/>
            <a:ext cx="3364992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4"/>
          <p:cNvSpPr txBox="1"/>
          <p:nvPr>
            <p:ph type="title"/>
          </p:nvPr>
        </p:nvSpPr>
        <p:spPr>
          <a:xfrm>
            <a:off x="5671732" y="1277983"/>
            <a:ext cx="7441045" cy="905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3500">
                <a:solidFill>
                  <a:srgbClr val="FBBC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4"/>
          <p:cNvSpPr txBox="1"/>
          <p:nvPr>
            <p:ph idx="1" type="body"/>
          </p:nvPr>
        </p:nvSpPr>
        <p:spPr>
          <a:xfrm>
            <a:off x="731520" y="1892808"/>
            <a:ext cx="6364224" cy="54315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2" name="Google Shape;102;p24"/>
          <p:cNvSpPr txBox="1"/>
          <p:nvPr>
            <p:ph idx="2" type="body"/>
          </p:nvPr>
        </p:nvSpPr>
        <p:spPr>
          <a:xfrm>
            <a:off x="7534656" y="1892808"/>
            <a:ext cx="6364224" cy="54315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3" name="Google Shape;103;p24"/>
          <p:cNvSpPr txBox="1"/>
          <p:nvPr>
            <p:ph idx="11" type="ftr"/>
          </p:nvPr>
        </p:nvSpPr>
        <p:spPr>
          <a:xfrm>
            <a:off x="4974336" y="7653528"/>
            <a:ext cx="4681728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4"/>
          <p:cNvSpPr txBox="1"/>
          <p:nvPr>
            <p:ph idx="10" type="dt"/>
          </p:nvPr>
        </p:nvSpPr>
        <p:spPr>
          <a:xfrm>
            <a:off x="731520" y="7653528"/>
            <a:ext cx="3364992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4"/>
          <p:cNvSpPr txBox="1"/>
          <p:nvPr>
            <p:ph idx="12" type="sldNum"/>
          </p:nvPr>
        </p:nvSpPr>
        <p:spPr>
          <a:xfrm>
            <a:off x="10533889" y="7653528"/>
            <a:ext cx="3364992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5"/>
          <p:cNvSpPr txBox="1"/>
          <p:nvPr>
            <p:ph type="title"/>
          </p:nvPr>
        </p:nvSpPr>
        <p:spPr>
          <a:xfrm>
            <a:off x="5671732" y="1277983"/>
            <a:ext cx="7441045" cy="905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3500">
                <a:solidFill>
                  <a:srgbClr val="FBBC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5"/>
          <p:cNvSpPr txBox="1"/>
          <p:nvPr>
            <p:ph idx="11" type="ftr"/>
          </p:nvPr>
        </p:nvSpPr>
        <p:spPr>
          <a:xfrm>
            <a:off x="4974336" y="7653528"/>
            <a:ext cx="4681728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9" name="Google Shape;109;p25"/>
          <p:cNvSpPr txBox="1"/>
          <p:nvPr>
            <p:ph idx="10" type="dt"/>
          </p:nvPr>
        </p:nvSpPr>
        <p:spPr>
          <a:xfrm>
            <a:off x="731520" y="7653528"/>
            <a:ext cx="3364992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0" name="Google Shape;110;p25"/>
          <p:cNvSpPr txBox="1"/>
          <p:nvPr>
            <p:ph idx="12" type="sldNum"/>
          </p:nvPr>
        </p:nvSpPr>
        <p:spPr>
          <a:xfrm>
            <a:off x="10533889" y="7653528"/>
            <a:ext cx="3364992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3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5" Type="http://schemas.openxmlformats.org/officeDocument/2006/relationships/theme" Target="../theme/theme4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9.xml"/><Relationship Id="rId3" Type="http://schemas.openxmlformats.org/officeDocument/2006/relationships/slideLayout" Target="../slideLayouts/slideLayout20.xml"/><Relationship Id="rId4" Type="http://schemas.openxmlformats.org/officeDocument/2006/relationships/slideLayout" Target="../slideLayouts/slideLayout21.xml"/><Relationship Id="rId5" Type="http://schemas.openxmlformats.org/officeDocument/2006/relationships/slideLayout" Target="../slideLayouts/slideLayout22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0"/>
          <p:cNvSpPr txBox="1"/>
          <p:nvPr>
            <p:ph type="title"/>
          </p:nvPr>
        </p:nvSpPr>
        <p:spPr>
          <a:xfrm>
            <a:off x="5671732" y="1277983"/>
            <a:ext cx="7441045" cy="905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3500" u="none" cap="none" strike="noStrike">
                <a:solidFill>
                  <a:srgbClr val="FBBC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5" name="Google Shape;75;p20"/>
          <p:cNvSpPr txBox="1"/>
          <p:nvPr>
            <p:ph idx="1" type="body"/>
          </p:nvPr>
        </p:nvSpPr>
        <p:spPr>
          <a:xfrm>
            <a:off x="2435713" y="2237752"/>
            <a:ext cx="9758974" cy="29579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2700" u="none" cap="none" strike="noStrike">
                <a:solidFill>
                  <a:srgbClr val="27316F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6" name="Google Shape;76;p20"/>
          <p:cNvSpPr txBox="1"/>
          <p:nvPr>
            <p:ph idx="11" type="ftr"/>
          </p:nvPr>
        </p:nvSpPr>
        <p:spPr>
          <a:xfrm>
            <a:off x="4974336" y="7653528"/>
            <a:ext cx="4681728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731520" y="7653528"/>
            <a:ext cx="3364992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8" name="Google Shape;78;p20"/>
          <p:cNvSpPr txBox="1"/>
          <p:nvPr>
            <p:ph idx="12" type="sldNum"/>
          </p:nvPr>
        </p:nvSpPr>
        <p:spPr>
          <a:xfrm>
            <a:off x="10533889" y="7653528"/>
            <a:ext cx="3364992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1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5" r:id="rId1"/>
    <p:sldLayoutId id="2147483666" r:id="rId2"/>
    <p:sldLayoutId id="2147483667" r:id="rId3"/>
    <p:sldLayoutId id="2147483668" r:id="rId4"/>
    <p:sldLayoutId id="2147483669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7.png"/><Relationship Id="rId4" Type="http://schemas.openxmlformats.org/officeDocument/2006/relationships/image" Target="../media/image3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8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3.png"/><Relationship Id="rId4" Type="http://schemas.openxmlformats.org/officeDocument/2006/relationships/image" Target="../media/image17.png"/><Relationship Id="rId5" Type="http://schemas.openxmlformats.org/officeDocument/2006/relationships/image" Target="../media/image2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Relationship Id="rId4" Type="http://schemas.openxmlformats.org/officeDocument/2006/relationships/image" Target="../media/image29.png"/><Relationship Id="rId5" Type="http://schemas.openxmlformats.org/officeDocument/2006/relationships/image" Target="../media/image22.png"/><Relationship Id="rId6" Type="http://schemas.openxmlformats.org/officeDocument/2006/relationships/image" Target="../media/image2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2.png"/><Relationship Id="rId4" Type="http://schemas.openxmlformats.org/officeDocument/2006/relationships/image" Target="../media/image37.png"/><Relationship Id="rId5" Type="http://schemas.openxmlformats.org/officeDocument/2006/relationships/image" Target="../media/image34.png"/><Relationship Id="rId6" Type="http://schemas.openxmlformats.org/officeDocument/2006/relationships/image" Target="../media/image3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0.png"/><Relationship Id="rId4" Type="http://schemas.openxmlformats.org/officeDocument/2006/relationships/hyperlink" Target="mailto:berger-ghislain.theubo@grenoble-inp.org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6" name="Google Shape;116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6"/>
          <p:cNvSpPr/>
          <p:nvPr/>
        </p:nvSpPr>
        <p:spPr>
          <a:xfrm>
            <a:off x="659690" y="681405"/>
            <a:ext cx="7556400" cy="28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72D45"/>
              </a:buClr>
              <a:buSzPts val="4450"/>
              <a:buFont typeface="Kanit"/>
              <a:buNone/>
            </a:pPr>
            <a:r>
              <a:rPr b="0" i="0" lang="en-US" sz="4450" u="none" cap="none" strike="noStrike">
                <a:solidFill>
                  <a:srgbClr val="272D45"/>
                </a:solidFill>
                <a:latin typeface="Kanit"/>
                <a:ea typeface="Kanit"/>
                <a:cs typeface="Kanit"/>
                <a:sym typeface="Kanit"/>
              </a:rPr>
              <a:t>Migration des Machines Virtuelles sous OpenStack dans un environnement GRID5000</a:t>
            </a:r>
            <a:endParaRPr b="0" i="0" sz="4450" u="none" cap="none" strike="noStrike">
              <a:solidFill>
                <a:srgbClr val="272D45"/>
              </a:solidFill>
              <a:latin typeface="Kanit"/>
              <a:ea typeface="Kanit"/>
              <a:cs typeface="Kanit"/>
              <a:sym typeface="Kanit"/>
            </a:endParaRPr>
          </a:p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72D45"/>
              </a:buClr>
              <a:buSzPts val="4450"/>
              <a:buFont typeface="Kanit"/>
              <a:buNone/>
            </a:pPr>
            <a:r>
              <a:t/>
            </a:r>
            <a:endParaRPr sz="4450">
              <a:solidFill>
                <a:srgbClr val="272D45"/>
              </a:solidFill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118" name="Google Shape;118;p26"/>
          <p:cNvSpPr/>
          <p:nvPr/>
        </p:nvSpPr>
        <p:spPr>
          <a:xfrm>
            <a:off x="854740" y="4301796"/>
            <a:ext cx="7556400" cy="10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None/>
            </a:pP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Approche technique et évolution de la solution avec Xen. Projet réalisé sur GRID5000, présentant un aperçu de l’environnement avec OpenStack et GRID5000.</a:t>
            </a:r>
            <a:endParaRPr b="0" i="0" sz="1750" u="none" cap="none" strike="noStrike"/>
          </a:p>
        </p:txBody>
      </p:sp>
      <p:sp>
        <p:nvSpPr>
          <p:cNvPr id="119" name="Google Shape;119;p26"/>
          <p:cNvSpPr/>
          <p:nvPr/>
        </p:nvSpPr>
        <p:spPr>
          <a:xfrm>
            <a:off x="793790" y="6192798"/>
            <a:ext cx="362903" cy="362903"/>
          </a:xfrm>
          <a:prstGeom prst="roundRect">
            <a:avLst>
              <a:gd fmla="val 25194296" name="adj"/>
            </a:avLst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26"/>
          <p:cNvSpPr/>
          <p:nvPr/>
        </p:nvSpPr>
        <p:spPr>
          <a:xfrm>
            <a:off x="1270040" y="6175891"/>
            <a:ext cx="4380667" cy="396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909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2200"/>
              <a:buFont typeface="Martel Sans"/>
              <a:buNone/>
            </a:pPr>
            <a:r>
              <a:rPr b="1" i="0" lang="en-US" sz="220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 BERGER GHISLAIN THEUBO</a:t>
            </a:r>
            <a:endParaRPr b="0" i="0" sz="2200" u="none" cap="none" strike="noStrik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7"/>
          <p:cNvSpPr/>
          <p:nvPr/>
        </p:nvSpPr>
        <p:spPr>
          <a:xfrm>
            <a:off x="793790" y="1227507"/>
            <a:ext cx="104799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72D45"/>
              </a:buClr>
              <a:buSzPts val="4450"/>
              <a:buFont typeface="Kanit"/>
              <a:buNone/>
            </a:pPr>
            <a:r>
              <a:rPr b="0" i="0" lang="en-US" sz="4450" u="none" cap="none" strike="noStrike">
                <a:solidFill>
                  <a:srgbClr val="272D45"/>
                </a:solidFill>
                <a:latin typeface="Kanit"/>
                <a:ea typeface="Kanit"/>
                <a:cs typeface="Kanit"/>
                <a:sym typeface="Kanit"/>
              </a:rPr>
              <a:t>État de l’Art : OpenStack, Xen et GRID5000</a:t>
            </a:r>
            <a:endParaRPr b="0" i="0" sz="4450" u="none" cap="none" strike="noStrike"/>
          </a:p>
        </p:txBody>
      </p:sp>
      <p:sp>
        <p:nvSpPr>
          <p:cNvPr id="127" name="Google Shape;127;p27"/>
          <p:cNvSpPr/>
          <p:nvPr/>
        </p:nvSpPr>
        <p:spPr>
          <a:xfrm>
            <a:off x="793790" y="3271361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D45"/>
              </a:buClr>
              <a:buSzPts val="2200"/>
              <a:buFont typeface="Kanit"/>
              <a:buNone/>
            </a:pPr>
            <a:r>
              <a:rPr lang="en-US" sz="2200">
                <a:solidFill>
                  <a:srgbClr val="272D45"/>
                </a:solidFill>
                <a:latin typeface="Kanit"/>
                <a:ea typeface="Kanit"/>
                <a:cs typeface="Kanit"/>
                <a:sym typeface="Kanit"/>
              </a:rPr>
              <a:t>1-</a:t>
            </a:r>
            <a:r>
              <a:rPr b="0" i="0" lang="en-US" sz="2200" u="none" cap="none" strike="noStrike">
                <a:solidFill>
                  <a:srgbClr val="272D45"/>
                </a:solidFill>
                <a:latin typeface="Kanit"/>
                <a:ea typeface="Kanit"/>
                <a:cs typeface="Kanit"/>
                <a:sym typeface="Kanit"/>
              </a:rPr>
              <a:t>OpenStack</a:t>
            </a:r>
            <a:endParaRPr b="0" i="0" sz="2200" u="none" cap="none" strike="noStrike"/>
          </a:p>
        </p:txBody>
      </p:sp>
      <p:sp>
        <p:nvSpPr>
          <p:cNvPr id="128" name="Google Shape;128;p27"/>
          <p:cNvSpPr/>
          <p:nvPr/>
        </p:nvSpPr>
        <p:spPr>
          <a:xfrm>
            <a:off x="793790" y="3852505"/>
            <a:ext cx="3978116" cy="2177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None/>
            </a:pP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OpenStack orchestre les infrastructures Cloud avec Nova (calcul), Neutron (réseau) et Cinder (stockage). Sa capacité à automatiser la migration est éprouvée.</a:t>
            </a:r>
            <a:endParaRPr b="0" i="0" sz="1750" u="none" cap="none" strike="noStrike"/>
          </a:p>
        </p:txBody>
      </p:sp>
      <p:sp>
        <p:nvSpPr>
          <p:cNvPr id="129" name="Google Shape;129;p27"/>
          <p:cNvSpPr/>
          <p:nvPr/>
        </p:nvSpPr>
        <p:spPr>
          <a:xfrm>
            <a:off x="5332928" y="3271361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D45"/>
              </a:buClr>
              <a:buSzPts val="2200"/>
              <a:buFont typeface="Kanit"/>
              <a:buNone/>
            </a:pPr>
            <a:r>
              <a:rPr lang="en-US" sz="2200">
                <a:solidFill>
                  <a:srgbClr val="272D45"/>
                </a:solidFill>
                <a:latin typeface="Kanit"/>
                <a:ea typeface="Kanit"/>
                <a:cs typeface="Kanit"/>
                <a:sym typeface="Kanit"/>
              </a:rPr>
              <a:t>2-</a:t>
            </a:r>
            <a:r>
              <a:rPr b="0" i="0" lang="en-US" sz="2200" u="none" cap="none" strike="noStrike">
                <a:solidFill>
                  <a:srgbClr val="272D45"/>
                </a:solidFill>
                <a:latin typeface="Kanit"/>
                <a:ea typeface="Kanit"/>
                <a:cs typeface="Kanit"/>
                <a:sym typeface="Kanit"/>
              </a:rPr>
              <a:t>Xen</a:t>
            </a:r>
            <a:endParaRPr b="0" i="0" sz="2200" u="none" cap="none" strike="noStrike"/>
          </a:p>
        </p:txBody>
      </p:sp>
      <p:sp>
        <p:nvSpPr>
          <p:cNvPr id="130" name="Google Shape;130;p27"/>
          <p:cNvSpPr/>
          <p:nvPr/>
        </p:nvSpPr>
        <p:spPr>
          <a:xfrm>
            <a:off x="5332928" y="3852505"/>
            <a:ext cx="3978116" cy="2177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None/>
            </a:pP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Xen, hyperviseur de paravirtualisation, requiert une homogénéité matérielle pour les migrations. Comparé à KVM/QEMU, il peut avoir des contraintes en live migration.</a:t>
            </a:r>
            <a:endParaRPr b="0" i="0" sz="1750" u="none" cap="none" strike="noStrike"/>
          </a:p>
        </p:txBody>
      </p:sp>
      <p:sp>
        <p:nvSpPr>
          <p:cNvPr id="131" name="Google Shape;131;p27"/>
          <p:cNvSpPr/>
          <p:nvPr/>
        </p:nvSpPr>
        <p:spPr>
          <a:xfrm>
            <a:off x="9872067" y="3271361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D45"/>
              </a:buClr>
              <a:buSzPts val="2200"/>
              <a:buFont typeface="Kanit"/>
              <a:buNone/>
            </a:pPr>
            <a:r>
              <a:rPr lang="en-US" sz="2200">
                <a:solidFill>
                  <a:srgbClr val="272D45"/>
                </a:solidFill>
                <a:latin typeface="Kanit"/>
                <a:ea typeface="Kanit"/>
                <a:cs typeface="Kanit"/>
                <a:sym typeface="Kanit"/>
              </a:rPr>
              <a:t>3-</a:t>
            </a:r>
            <a:r>
              <a:rPr b="0" i="0" lang="en-US" sz="2200" u="none" cap="none" strike="noStrike">
                <a:solidFill>
                  <a:srgbClr val="272D45"/>
                </a:solidFill>
                <a:latin typeface="Kanit"/>
                <a:ea typeface="Kanit"/>
                <a:cs typeface="Kanit"/>
                <a:sym typeface="Kanit"/>
              </a:rPr>
              <a:t>GRID5000</a:t>
            </a:r>
            <a:endParaRPr b="0" i="0" sz="2200" u="none" cap="none" strike="noStrike"/>
          </a:p>
        </p:txBody>
      </p:sp>
      <p:sp>
        <p:nvSpPr>
          <p:cNvPr id="132" name="Google Shape;132;p27"/>
          <p:cNvSpPr/>
          <p:nvPr/>
        </p:nvSpPr>
        <p:spPr>
          <a:xfrm>
            <a:off x="9872067" y="3852505"/>
            <a:ext cx="3978116" cy="2177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None/>
            </a:pP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GRID5000 est une plateforme de recherche pour des déploiements à grande échelle. Les VLANs isolés peuvent compliquer la communication inter-nœuds pour les migrations.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38" name="Google Shape;138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8"/>
          <p:cNvSpPr/>
          <p:nvPr/>
        </p:nvSpPr>
        <p:spPr>
          <a:xfrm>
            <a:off x="604480" y="613767"/>
            <a:ext cx="7935000" cy="10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73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3350"/>
              <a:buFont typeface="Roboto Slab"/>
              <a:buNone/>
            </a:pPr>
            <a:r>
              <a:rPr b="0" i="0" lang="en-US" sz="33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1 – Les Composants d'OpenStack ( vue globale)</a:t>
            </a:r>
            <a:endParaRPr b="0" i="0" sz="3350" u="none" cap="none" strike="noStrike"/>
          </a:p>
        </p:txBody>
      </p:sp>
      <p:sp>
        <p:nvSpPr>
          <p:cNvPr id="140" name="Google Shape;140;p28"/>
          <p:cNvSpPr/>
          <p:nvPr/>
        </p:nvSpPr>
        <p:spPr>
          <a:xfrm>
            <a:off x="604480" y="1952149"/>
            <a:ext cx="7935000" cy="1668300"/>
          </a:xfrm>
          <a:prstGeom prst="roundRect">
            <a:avLst>
              <a:gd fmla="val 1553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28"/>
          <p:cNvSpPr/>
          <p:nvPr/>
        </p:nvSpPr>
        <p:spPr>
          <a:xfrm>
            <a:off x="777121" y="2124789"/>
            <a:ext cx="21588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650"/>
              <a:buFont typeface="Roboto Slab"/>
              <a:buNone/>
            </a:pPr>
            <a:r>
              <a:rPr b="0" i="0" lang="en-US" sz="16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Architecture Globale</a:t>
            </a:r>
            <a:endParaRPr b="0" i="0" sz="1650" u="none" cap="none" strike="noStrike"/>
          </a:p>
        </p:txBody>
      </p:sp>
      <p:sp>
        <p:nvSpPr>
          <p:cNvPr id="142" name="Google Shape;142;p28"/>
          <p:cNvSpPr/>
          <p:nvPr/>
        </p:nvSpPr>
        <p:spPr>
          <a:xfrm>
            <a:off x="777121" y="2498169"/>
            <a:ext cx="7589700" cy="2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9259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350"/>
              <a:buFont typeface="Roboto"/>
              <a:buChar char="•"/>
            </a:pPr>
            <a:r>
              <a:rPr b="0" i="0" lang="en-US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Control Tier : API, base de données, bus de messages</a:t>
            </a:r>
            <a:endParaRPr b="0" i="0" sz="1350" u="none" cap="none" strike="noStrike"/>
          </a:p>
        </p:txBody>
      </p:sp>
      <p:sp>
        <p:nvSpPr>
          <p:cNvPr id="143" name="Google Shape;143;p28"/>
          <p:cNvSpPr/>
          <p:nvPr/>
        </p:nvSpPr>
        <p:spPr>
          <a:xfrm>
            <a:off x="777121" y="2834878"/>
            <a:ext cx="7589700" cy="2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9259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350"/>
              <a:buFont typeface="Roboto"/>
              <a:buChar char="•"/>
            </a:pPr>
            <a:r>
              <a:rPr b="0" i="0" lang="en-US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Network Tier : Virtualisation réseau (SDN, Neutron)</a:t>
            </a:r>
            <a:endParaRPr b="0" i="0" sz="1350" u="none" cap="none" strike="noStrike"/>
          </a:p>
        </p:txBody>
      </p:sp>
      <p:sp>
        <p:nvSpPr>
          <p:cNvPr id="144" name="Google Shape;144;p28"/>
          <p:cNvSpPr/>
          <p:nvPr/>
        </p:nvSpPr>
        <p:spPr>
          <a:xfrm>
            <a:off x="777121" y="3171587"/>
            <a:ext cx="7589700" cy="2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9259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350"/>
              <a:buFont typeface="Roboto"/>
              <a:buChar char="•"/>
            </a:pPr>
            <a:r>
              <a:rPr b="0" i="0" lang="en-US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Compute Tier : Exécution des VMs (hyperviseurs)</a:t>
            </a:r>
            <a:endParaRPr b="0" i="0" sz="1350" u="none" cap="none" strike="noStrike"/>
          </a:p>
        </p:txBody>
      </p:sp>
      <p:sp>
        <p:nvSpPr>
          <p:cNvPr id="145" name="Google Shape;145;p28"/>
          <p:cNvSpPr/>
          <p:nvPr/>
        </p:nvSpPr>
        <p:spPr>
          <a:xfrm>
            <a:off x="604480" y="3793212"/>
            <a:ext cx="7935000" cy="3351900"/>
          </a:xfrm>
          <a:prstGeom prst="roundRect">
            <a:avLst>
              <a:gd fmla="val 773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28"/>
          <p:cNvSpPr/>
          <p:nvPr/>
        </p:nvSpPr>
        <p:spPr>
          <a:xfrm>
            <a:off x="777121" y="3965853"/>
            <a:ext cx="21588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650"/>
              <a:buFont typeface="Roboto Slab"/>
              <a:buNone/>
            </a:pPr>
            <a:r>
              <a:rPr b="0" i="0" lang="en-US" sz="16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Composants Clés</a:t>
            </a:r>
            <a:endParaRPr b="0" i="0" sz="1650" u="none" cap="none" strike="noStrike"/>
          </a:p>
        </p:txBody>
      </p:sp>
      <p:sp>
        <p:nvSpPr>
          <p:cNvPr id="147" name="Google Shape;147;p28"/>
          <p:cNvSpPr/>
          <p:nvPr/>
        </p:nvSpPr>
        <p:spPr>
          <a:xfrm>
            <a:off x="777121" y="4339233"/>
            <a:ext cx="7589700" cy="2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9259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350"/>
              <a:buFont typeface="Roboto"/>
              <a:buChar char="•"/>
            </a:pPr>
            <a:r>
              <a:rPr b="0" i="0" lang="en-US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Horizon : Interface web de gestion</a:t>
            </a:r>
            <a:endParaRPr b="0" i="0" sz="1350" u="none" cap="none" strike="noStrike"/>
          </a:p>
        </p:txBody>
      </p:sp>
      <p:sp>
        <p:nvSpPr>
          <p:cNvPr id="148" name="Google Shape;148;p28"/>
          <p:cNvSpPr/>
          <p:nvPr/>
        </p:nvSpPr>
        <p:spPr>
          <a:xfrm>
            <a:off x="777121" y="4675942"/>
            <a:ext cx="7589700" cy="2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9259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350"/>
              <a:buFont typeface="Roboto"/>
              <a:buChar char="•"/>
            </a:pPr>
            <a:r>
              <a:rPr b="0" i="0" lang="en-US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Keystone : Authentification et gestion des identités</a:t>
            </a:r>
            <a:endParaRPr b="0" i="0" sz="1350" u="none" cap="none" strike="noStrike"/>
          </a:p>
        </p:txBody>
      </p:sp>
      <p:sp>
        <p:nvSpPr>
          <p:cNvPr id="149" name="Google Shape;149;p28"/>
          <p:cNvSpPr/>
          <p:nvPr/>
        </p:nvSpPr>
        <p:spPr>
          <a:xfrm>
            <a:off x="777121" y="5012650"/>
            <a:ext cx="7589700" cy="2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9259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350"/>
              <a:buFont typeface="Roboto"/>
              <a:buChar char="•"/>
            </a:pPr>
            <a:r>
              <a:rPr b="0" i="0" lang="en-US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Glance : Gestion et cache des images</a:t>
            </a:r>
            <a:endParaRPr b="0" i="0" sz="1350" u="none" cap="none" strike="noStrike"/>
          </a:p>
        </p:txBody>
      </p:sp>
      <p:sp>
        <p:nvSpPr>
          <p:cNvPr id="150" name="Google Shape;150;p28"/>
          <p:cNvSpPr/>
          <p:nvPr/>
        </p:nvSpPr>
        <p:spPr>
          <a:xfrm>
            <a:off x="777121" y="5349359"/>
            <a:ext cx="7589700" cy="2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9259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350"/>
              <a:buFont typeface="Roboto"/>
              <a:buChar char="•"/>
            </a:pPr>
            <a:r>
              <a:rPr b="0" i="0" lang="en-US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Neutron : Virtualisation réseau (VLAN, VXLAN)</a:t>
            </a:r>
            <a:endParaRPr b="0" i="0" sz="1350" u="none" cap="none" strike="noStrike"/>
          </a:p>
        </p:txBody>
      </p:sp>
      <p:sp>
        <p:nvSpPr>
          <p:cNvPr id="151" name="Google Shape;151;p28"/>
          <p:cNvSpPr/>
          <p:nvPr/>
        </p:nvSpPr>
        <p:spPr>
          <a:xfrm>
            <a:off x="777121" y="5686068"/>
            <a:ext cx="7589700" cy="2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9259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350"/>
              <a:buFont typeface="Roboto"/>
              <a:buChar char="•"/>
            </a:pPr>
            <a:r>
              <a:rPr b="0" i="0" lang="en-US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Nova : Orchestration des instances</a:t>
            </a:r>
            <a:endParaRPr b="0" i="0" sz="1350" u="none" cap="none" strike="noStrike"/>
          </a:p>
        </p:txBody>
      </p:sp>
      <p:sp>
        <p:nvSpPr>
          <p:cNvPr id="152" name="Google Shape;152;p28"/>
          <p:cNvSpPr/>
          <p:nvPr/>
        </p:nvSpPr>
        <p:spPr>
          <a:xfrm>
            <a:off x="777121" y="6022777"/>
            <a:ext cx="7589700" cy="2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9259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350"/>
              <a:buFont typeface="Roboto"/>
              <a:buChar char="•"/>
            </a:pPr>
            <a:r>
              <a:rPr b="0" i="0" lang="en-US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Cinder : Stockage bloc (volumes attachables)</a:t>
            </a:r>
            <a:endParaRPr b="0" i="0" sz="1350" u="none" cap="none" strike="noStrike"/>
          </a:p>
        </p:txBody>
      </p:sp>
      <p:sp>
        <p:nvSpPr>
          <p:cNvPr id="153" name="Google Shape;153;p28"/>
          <p:cNvSpPr/>
          <p:nvPr/>
        </p:nvSpPr>
        <p:spPr>
          <a:xfrm>
            <a:off x="777121" y="6359485"/>
            <a:ext cx="7589700" cy="2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9259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350"/>
              <a:buFont typeface="Roboto"/>
              <a:buChar char="•"/>
            </a:pPr>
            <a:r>
              <a:rPr b="0" i="0" lang="en-US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Swift : Stockage objet simple et évolutif</a:t>
            </a:r>
            <a:endParaRPr b="0" i="0" sz="1350" u="none" cap="none" strike="noStrike"/>
          </a:p>
        </p:txBody>
      </p:sp>
      <p:sp>
        <p:nvSpPr>
          <p:cNvPr id="154" name="Google Shape;154;p28"/>
          <p:cNvSpPr/>
          <p:nvPr/>
        </p:nvSpPr>
        <p:spPr>
          <a:xfrm>
            <a:off x="777121" y="6696194"/>
            <a:ext cx="7589700" cy="2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9259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350"/>
              <a:buFont typeface="Roboto"/>
              <a:buChar char="•"/>
            </a:pPr>
            <a:r>
              <a:rPr b="0" i="0" lang="en-US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Ceilometer &amp; Heat : Télémétrie et orchestration</a:t>
            </a:r>
            <a:endParaRPr b="0" i="0" sz="1350" u="none" cap="none" strike="noStrike"/>
          </a:p>
        </p:txBody>
      </p:sp>
      <p:sp>
        <p:nvSpPr>
          <p:cNvPr id="155" name="Google Shape;155;p28"/>
          <p:cNvSpPr/>
          <p:nvPr/>
        </p:nvSpPr>
        <p:spPr>
          <a:xfrm>
            <a:off x="604480" y="7339370"/>
            <a:ext cx="7935000" cy="2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259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350"/>
              <a:buFont typeface="Roboto"/>
              <a:buNone/>
            </a:pPr>
            <a:r>
              <a:rPr b="0" i="0" lang="en-US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Leçon Apprise : Modularité et évolutivité permettant de n'installer que les composants nécessaires</a:t>
            </a:r>
            <a:endParaRPr b="0" i="0" sz="1350" u="none" cap="none" strike="noStrik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9"/>
          <p:cNvSpPr/>
          <p:nvPr/>
        </p:nvSpPr>
        <p:spPr>
          <a:xfrm>
            <a:off x="322786" y="1905325"/>
            <a:ext cx="7232400" cy="7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Montserrat"/>
              <a:buNone/>
            </a:pPr>
            <a:r>
              <a:rPr b="1" i="0" lang="en-US" sz="4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Driver Spécifique XenAPI</a:t>
            </a:r>
            <a:endParaRPr b="0" i="0" sz="4400" u="none" cap="none" strike="noStrike"/>
          </a:p>
        </p:txBody>
      </p:sp>
      <p:sp>
        <p:nvSpPr>
          <p:cNvPr id="162" name="Google Shape;162;p29"/>
          <p:cNvSpPr/>
          <p:nvPr/>
        </p:nvSpPr>
        <p:spPr>
          <a:xfrm>
            <a:off x="248673" y="3824532"/>
            <a:ext cx="6150300" cy="11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2631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3D3838"/>
                </a:solidFill>
                <a:latin typeface="Arial"/>
                <a:ea typeface="Arial"/>
                <a:cs typeface="Arial"/>
                <a:sym typeface="Arial"/>
              </a:rPr>
              <a:t>Contrairement à KVM/QEMU géré par libvirt, Nova utilise un driver XenAPI. Ce driver traduit les commandes de migration en appels Xen spécifiques.</a:t>
            </a:r>
            <a:endParaRPr b="0" i="0" sz="1900" u="none" cap="none" strike="noStrike"/>
          </a:p>
        </p:txBody>
      </p:sp>
      <p:sp>
        <p:nvSpPr>
          <p:cNvPr id="163" name="Google Shape;163;p29"/>
          <p:cNvSpPr/>
          <p:nvPr/>
        </p:nvSpPr>
        <p:spPr>
          <a:xfrm>
            <a:off x="248673" y="5516629"/>
            <a:ext cx="6150300" cy="3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2631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900"/>
              <a:buFont typeface="Arial"/>
              <a:buChar char="•"/>
            </a:pPr>
            <a:r>
              <a:rPr b="0" i="0" lang="en-US" sz="1900" u="none" cap="none" strike="noStrike">
                <a:solidFill>
                  <a:srgbClr val="3D3838"/>
                </a:solidFill>
                <a:latin typeface="Arial"/>
                <a:ea typeface="Arial"/>
                <a:cs typeface="Arial"/>
                <a:sym typeface="Arial"/>
              </a:rPr>
              <a:t>Préparation d'un checkpoint</a:t>
            </a:r>
            <a:endParaRPr b="0" i="0" sz="1900" u="none" cap="none" strike="noStrike"/>
          </a:p>
        </p:txBody>
      </p:sp>
      <p:sp>
        <p:nvSpPr>
          <p:cNvPr id="164" name="Google Shape;164;p29"/>
          <p:cNvSpPr/>
          <p:nvPr/>
        </p:nvSpPr>
        <p:spPr>
          <a:xfrm>
            <a:off x="248673" y="5790765"/>
            <a:ext cx="6150300" cy="3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2631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900"/>
              <a:buFont typeface="Arial"/>
              <a:buChar char="•"/>
            </a:pPr>
            <a:r>
              <a:rPr b="0" i="0" lang="en-US" sz="1900" u="none" cap="none" strike="noStrike">
                <a:solidFill>
                  <a:srgbClr val="3D3838"/>
                </a:solidFill>
                <a:latin typeface="Arial"/>
                <a:ea typeface="Arial"/>
                <a:cs typeface="Arial"/>
                <a:sym typeface="Arial"/>
              </a:rPr>
              <a:t>Transmission de l'état VM via le réseau</a:t>
            </a:r>
            <a:endParaRPr b="0" i="0" sz="1900" u="none" cap="none" strike="noStrike"/>
          </a:p>
        </p:txBody>
      </p:sp>
      <p:sp>
        <p:nvSpPr>
          <p:cNvPr id="165" name="Google Shape;165;p29"/>
          <p:cNvSpPr/>
          <p:nvPr/>
        </p:nvSpPr>
        <p:spPr>
          <a:xfrm>
            <a:off x="6776923" y="1905329"/>
            <a:ext cx="7721400" cy="7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Montserrat"/>
              <a:buNone/>
            </a:pPr>
            <a:r>
              <a:rPr b="1" i="0" lang="en-US" sz="4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Limites Techniques de Xen</a:t>
            </a:r>
            <a:endParaRPr b="0" i="0" sz="4400" u="none" cap="none" strike="noStrike"/>
          </a:p>
        </p:txBody>
      </p:sp>
      <p:sp>
        <p:nvSpPr>
          <p:cNvPr id="166" name="Google Shape;166;p29"/>
          <p:cNvSpPr/>
          <p:nvPr/>
        </p:nvSpPr>
        <p:spPr>
          <a:xfrm>
            <a:off x="8238122" y="3957661"/>
            <a:ext cx="28050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2200"/>
              <a:buFont typeface="Montserrat"/>
              <a:buNone/>
            </a:pPr>
            <a:r>
              <a:rPr b="1" i="0" lang="en-US" sz="2200" u="none" cap="none" strike="noStrike">
                <a:solidFill>
                  <a:srgbClr val="3D3838"/>
                </a:solidFill>
                <a:latin typeface="Montserrat"/>
                <a:ea typeface="Montserrat"/>
                <a:cs typeface="Montserrat"/>
                <a:sym typeface="Montserrat"/>
              </a:rPr>
              <a:t>Stockage Partagé</a:t>
            </a:r>
            <a:endParaRPr b="0" i="0" sz="2200" u="none" cap="none" strike="noStrike"/>
          </a:p>
        </p:txBody>
      </p:sp>
      <p:pic>
        <p:nvPicPr>
          <p:cNvPr descr="preencoded.png" id="167" name="Google Shape;167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74848" y="3824523"/>
            <a:ext cx="616982" cy="616982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9"/>
          <p:cNvSpPr/>
          <p:nvPr/>
        </p:nvSpPr>
        <p:spPr>
          <a:xfrm>
            <a:off x="8238122" y="4511757"/>
            <a:ext cx="5402400" cy="7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2631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3D3838"/>
                </a:solidFill>
                <a:latin typeface="Arial"/>
                <a:ea typeface="Arial"/>
                <a:cs typeface="Arial"/>
                <a:sym typeface="Arial"/>
              </a:rPr>
              <a:t>Exigences strictes de configuration du stockage partagé pour la migration transparente.</a:t>
            </a:r>
            <a:endParaRPr b="0" i="0" sz="1900" u="none" cap="none" strike="noStrike"/>
          </a:p>
        </p:txBody>
      </p:sp>
      <p:pic>
        <p:nvPicPr>
          <p:cNvPr descr="preencoded.png" id="169" name="Google Shape;169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55173" y="5790773"/>
            <a:ext cx="616982" cy="616982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9"/>
          <p:cNvSpPr/>
          <p:nvPr/>
        </p:nvSpPr>
        <p:spPr>
          <a:xfrm>
            <a:off x="8424997" y="5886823"/>
            <a:ext cx="28050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2200"/>
              <a:buFont typeface="Montserrat"/>
              <a:buNone/>
            </a:pPr>
            <a:r>
              <a:rPr b="1" i="0" lang="en-US" sz="2200" u="none" cap="none" strike="noStrike">
                <a:solidFill>
                  <a:srgbClr val="3D3838"/>
                </a:solidFill>
                <a:latin typeface="Montserrat"/>
                <a:ea typeface="Montserrat"/>
                <a:cs typeface="Montserrat"/>
                <a:sym typeface="Montserrat"/>
              </a:rPr>
              <a:t>Mise en Réseau</a:t>
            </a:r>
            <a:endParaRPr b="0" i="0" sz="2200" u="none" cap="none" strike="noStrike"/>
          </a:p>
        </p:txBody>
      </p:sp>
      <p:sp>
        <p:nvSpPr>
          <p:cNvPr id="171" name="Google Shape;171;p29"/>
          <p:cNvSpPr/>
          <p:nvPr/>
        </p:nvSpPr>
        <p:spPr>
          <a:xfrm>
            <a:off x="8172147" y="6462457"/>
            <a:ext cx="5402700" cy="7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2631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3D3838"/>
                </a:solidFill>
                <a:latin typeface="Arial"/>
                <a:ea typeface="Arial"/>
                <a:cs typeface="Arial"/>
                <a:sym typeface="Arial"/>
              </a:rPr>
              <a:t>La configuration réseau doit être impeccable pour assurer la continuité.</a:t>
            </a:r>
            <a:endParaRPr b="0" i="0" sz="1900" u="none" cap="none" strike="noStrike"/>
          </a:p>
        </p:txBody>
      </p:sp>
      <p:sp>
        <p:nvSpPr>
          <p:cNvPr id="172" name="Google Shape;172;p29"/>
          <p:cNvSpPr txBox="1"/>
          <p:nvPr/>
        </p:nvSpPr>
        <p:spPr>
          <a:xfrm>
            <a:off x="719325" y="268225"/>
            <a:ext cx="11728800" cy="103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4572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/>
              <a:t>2-XEN</a:t>
            </a:r>
            <a:endParaRPr b="1" sz="2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0"/>
          <p:cNvSpPr/>
          <p:nvPr/>
        </p:nvSpPr>
        <p:spPr>
          <a:xfrm>
            <a:off x="6339959" y="670917"/>
            <a:ext cx="7437000" cy="13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2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Montserrat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Configuration Prérequise Essentielle</a:t>
            </a:r>
            <a:endParaRPr b="0" i="0" sz="4350" u="none" cap="none" strike="noStrike"/>
          </a:p>
        </p:txBody>
      </p:sp>
      <p:pic>
        <p:nvPicPr>
          <p:cNvPr descr="preencoded.png" id="179" name="Google Shape;17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9959" y="2422565"/>
            <a:ext cx="1219438" cy="171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30"/>
          <p:cNvSpPr/>
          <p:nvPr/>
        </p:nvSpPr>
        <p:spPr>
          <a:xfrm>
            <a:off x="7925157" y="2666405"/>
            <a:ext cx="27714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2150"/>
              <a:buFont typeface="Montserrat"/>
              <a:buNone/>
            </a:pPr>
            <a:r>
              <a:rPr b="1" i="0" lang="en-US" sz="2150" u="none" cap="none" strike="noStrike">
                <a:solidFill>
                  <a:srgbClr val="3D3838"/>
                </a:solidFill>
                <a:latin typeface="Montserrat"/>
                <a:ea typeface="Montserrat"/>
                <a:cs typeface="Montserrat"/>
                <a:sym typeface="Montserrat"/>
              </a:rPr>
              <a:t>Versions Logiciel</a:t>
            </a:r>
            <a:endParaRPr b="0" i="0" sz="2150" u="none" cap="none" strike="noStrike"/>
          </a:p>
        </p:txBody>
      </p:sp>
      <p:sp>
        <p:nvSpPr>
          <p:cNvPr id="181" name="Google Shape;181;p30"/>
          <p:cNvSpPr/>
          <p:nvPr/>
        </p:nvSpPr>
        <p:spPr>
          <a:xfrm>
            <a:off x="7925157" y="3159204"/>
            <a:ext cx="58518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3D3838"/>
                </a:solidFill>
                <a:latin typeface="Arial"/>
                <a:ea typeface="Arial"/>
                <a:cs typeface="Arial"/>
                <a:sym typeface="Arial"/>
              </a:rPr>
              <a:t>Assurer l'harmonisation des versions du logiciel de virtualisation.</a:t>
            </a:r>
            <a:endParaRPr b="0" i="0" sz="1900" u="none" cap="none" strike="noStrike"/>
          </a:p>
        </p:txBody>
      </p:sp>
      <p:pic>
        <p:nvPicPr>
          <p:cNvPr descr="preencoded.png" id="182" name="Google Shape;18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9959" y="4134564"/>
            <a:ext cx="1219438" cy="171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30"/>
          <p:cNvSpPr/>
          <p:nvPr/>
        </p:nvSpPr>
        <p:spPr>
          <a:xfrm>
            <a:off x="7925157" y="4378404"/>
            <a:ext cx="27714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2150"/>
              <a:buFont typeface="Montserrat"/>
              <a:buNone/>
            </a:pPr>
            <a:r>
              <a:rPr b="1" i="0" lang="en-US" sz="2150" u="none" cap="none" strike="noStrike">
                <a:solidFill>
                  <a:srgbClr val="3D3838"/>
                </a:solidFill>
                <a:latin typeface="Montserrat"/>
                <a:ea typeface="Montserrat"/>
                <a:cs typeface="Montserrat"/>
                <a:sym typeface="Montserrat"/>
              </a:rPr>
              <a:t>Outils Xen</a:t>
            </a:r>
            <a:endParaRPr b="0" i="0" sz="2150" u="none" cap="none" strike="noStrike"/>
          </a:p>
        </p:txBody>
      </p:sp>
      <p:sp>
        <p:nvSpPr>
          <p:cNvPr id="184" name="Google Shape;184;p30"/>
          <p:cNvSpPr/>
          <p:nvPr/>
        </p:nvSpPr>
        <p:spPr>
          <a:xfrm>
            <a:off x="7925157" y="4871204"/>
            <a:ext cx="58518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3D3838"/>
                </a:solidFill>
                <a:latin typeface="Arial"/>
                <a:ea typeface="Arial"/>
                <a:cs typeface="Arial"/>
                <a:sym typeface="Arial"/>
              </a:rPr>
              <a:t>XAPI, xl, etc., doivent être correctement configurés et compatibles.</a:t>
            </a:r>
            <a:endParaRPr b="0" i="0" sz="1900" u="none" cap="none" strike="noStrike"/>
          </a:p>
        </p:txBody>
      </p:sp>
      <p:pic>
        <p:nvPicPr>
          <p:cNvPr descr="preencoded.png" id="185" name="Google Shape;185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9959" y="5846564"/>
            <a:ext cx="1219438" cy="171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30"/>
          <p:cNvSpPr/>
          <p:nvPr/>
        </p:nvSpPr>
        <p:spPr>
          <a:xfrm>
            <a:off x="7925157" y="5919729"/>
            <a:ext cx="32256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2150"/>
              <a:buFont typeface="Montserrat"/>
              <a:buNone/>
            </a:pPr>
            <a:r>
              <a:rPr b="1" i="0" lang="en-US" sz="2150" u="none" cap="none" strike="noStrike">
                <a:solidFill>
                  <a:srgbClr val="3D3838"/>
                </a:solidFill>
                <a:latin typeface="Montserrat"/>
                <a:ea typeface="Montserrat"/>
                <a:cs typeface="Montserrat"/>
                <a:sym typeface="Montserrat"/>
              </a:rPr>
              <a:t>Configurations Réseau</a:t>
            </a:r>
            <a:endParaRPr b="0" i="0" sz="2150" u="none" cap="none" strike="noStrike"/>
          </a:p>
        </p:txBody>
      </p:sp>
      <p:sp>
        <p:nvSpPr>
          <p:cNvPr id="187" name="Google Shape;187;p30"/>
          <p:cNvSpPr/>
          <p:nvPr/>
        </p:nvSpPr>
        <p:spPr>
          <a:xfrm>
            <a:off x="7925157" y="6583204"/>
            <a:ext cx="58518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3D3838"/>
                </a:solidFill>
                <a:latin typeface="Arial"/>
                <a:ea typeface="Arial"/>
                <a:cs typeface="Arial"/>
                <a:sym typeface="Arial"/>
              </a:rPr>
              <a:t>Harmoniser les configurations réseau entre les hôtes source et destination.</a:t>
            </a:r>
            <a:endParaRPr b="0" i="0" sz="1900" u="none" cap="none" strike="noStrike"/>
          </a:p>
        </p:txBody>
      </p:sp>
      <p:sp>
        <p:nvSpPr>
          <p:cNvPr id="188" name="Google Shape;188;p30"/>
          <p:cNvSpPr/>
          <p:nvPr/>
        </p:nvSpPr>
        <p:spPr>
          <a:xfrm>
            <a:off x="60948" y="670927"/>
            <a:ext cx="6771900" cy="7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Montserrat"/>
              <a:buNone/>
            </a:pPr>
            <a:r>
              <a:rPr b="1" i="0" lang="en-US" sz="4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Types de Migration Xen</a:t>
            </a:r>
            <a:endParaRPr b="0" i="0" sz="4400" u="none" cap="none" strike="noStrike"/>
          </a:p>
        </p:txBody>
      </p:sp>
      <p:sp>
        <p:nvSpPr>
          <p:cNvPr id="189" name="Google Shape;189;p30"/>
          <p:cNvSpPr/>
          <p:nvPr/>
        </p:nvSpPr>
        <p:spPr>
          <a:xfrm>
            <a:off x="60948" y="2218124"/>
            <a:ext cx="555300" cy="555300"/>
          </a:xfrm>
          <a:prstGeom prst="roundRect">
            <a:avLst>
              <a:gd fmla="val 6667" name="adj"/>
            </a:avLst>
          </a:prstGeom>
          <a:solidFill>
            <a:srgbClr val="F2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30"/>
          <p:cNvSpPr/>
          <p:nvPr/>
        </p:nvSpPr>
        <p:spPr>
          <a:xfrm>
            <a:off x="861248" y="2320424"/>
            <a:ext cx="33753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2200"/>
              <a:buFont typeface="Montserrat"/>
              <a:buNone/>
            </a:pPr>
            <a:r>
              <a:rPr b="1" i="0" lang="en-US" sz="2200" u="none" cap="none" strike="noStrike">
                <a:solidFill>
                  <a:srgbClr val="3D3838"/>
                </a:solidFill>
                <a:latin typeface="Montserrat"/>
                <a:ea typeface="Montserrat"/>
                <a:cs typeface="Montserrat"/>
                <a:sym typeface="Montserrat"/>
              </a:rPr>
              <a:t>Migration Transparente</a:t>
            </a:r>
            <a:endParaRPr b="0" i="0" sz="2200" u="none" cap="none" strike="noStrike"/>
          </a:p>
        </p:txBody>
      </p:sp>
      <p:sp>
        <p:nvSpPr>
          <p:cNvPr id="191" name="Google Shape;191;p30"/>
          <p:cNvSpPr/>
          <p:nvPr/>
        </p:nvSpPr>
        <p:spPr>
          <a:xfrm>
            <a:off x="207275" y="3239250"/>
            <a:ext cx="5766900" cy="7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2631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3D3838"/>
                </a:solidFill>
                <a:latin typeface="Arial"/>
                <a:ea typeface="Arial"/>
                <a:cs typeface="Arial"/>
                <a:sym typeface="Arial"/>
              </a:rPr>
              <a:t>Migration à chaud, sans interruption de service, idéale si les conditions sont réunies.</a:t>
            </a:r>
            <a:endParaRPr b="0" i="0" sz="1900" u="none" cap="none" strike="noStrike"/>
          </a:p>
        </p:txBody>
      </p:sp>
      <p:sp>
        <p:nvSpPr>
          <p:cNvPr id="192" name="Google Shape;192;p30"/>
          <p:cNvSpPr/>
          <p:nvPr/>
        </p:nvSpPr>
        <p:spPr>
          <a:xfrm>
            <a:off x="132273" y="4712934"/>
            <a:ext cx="555300" cy="555300"/>
          </a:xfrm>
          <a:prstGeom prst="roundRect">
            <a:avLst>
              <a:gd fmla="val 6667" name="adj"/>
            </a:avLst>
          </a:prstGeom>
          <a:solidFill>
            <a:srgbClr val="F2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30"/>
          <p:cNvSpPr/>
          <p:nvPr/>
        </p:nvSpPr>
        <p:spPr>
          <a:xfrm>
            <a:off x="958798" y="4815234"/>
            <a:ext cx="28050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2200"/>
              <a:buFont typeface="Montserrat"/>
              <a:buNone/>
            </a:pPr>
            <a:r>
              <a:rPr b="1" i="0" lang="en-US" sz="2200" u="none" cap="none" strike="noStrike">
                <a:solidFill>
                  <a:srgbClr val="3D3838"/>
                </a:solidFill>
                <a:latin typeface="Montserrat"/>
                <a:ea typeface="Montserrat"/>
                <a:cs typeface="Montserrat"/>
                <a:sym typeface="Montserrat"/>
              </a:rPr>
              <a:t>Migration à Froid</a:t>
            </a:r>
            <a:endParaRPr b="0" i="0" sz="2200" u="none" cap="none" strike="noStrike"/>
          </a:p>
        </p:txBody>
      </p:sp>
      <p:sp>
        <p:nvSpPr>
          <p:cNvPr id="194" name="Google Shape;194;p30"/>
          <p:cNvSpPr/>
          <p:nvPr/>
        </p:nvSpPr>
        <p:spPr>
          <a:xfrm>
            <a:off x="60948" y="5602718"/>
            <a:ext cx="6614400" cy="7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2631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3D3838"/>
                </a:solidFill>
                <a:latin typeface="Arial"/>
                <a:ea typeface="Arial"/>
                <a:cs typeface="Arial"/>
                <a:sym typeface="Arial"/>
              </a:rPr>
              <a:t>Migration avec interruption de service, utilisée si les conditions de live migration ne sont pas satisfaites.</a:t>
            </a:r>
            <a:endParaRPr b="0" i="0" sz="1900" u="none" cap="none" strike="noStrik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1"/>
          <p:cNvSpPr/>
          <p:nvPr/>
        </p:nvSpPr>
        <p:spPr>
          <a:xfrm>
            <a:off x="6350198" y="1002268"/>
            <a:ext cx="7416300" cy="14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Montserrat"/>
              <a:buNone/>
            </a:pPr>
            <a:r>
              <a:rPr b="1" i="0" lang="en-US" sz="4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Conseils pour une Migration Réussie</a:t>
            </a:r>
            <a:endParaRPr b="0" i="0" sz="4400" u="none" cap="none" strike="noStrike"/>
          </a:p>
        </p:txBody>
      </p:sp>
      <p:sp>
        <p:nvSpPr>
          <p:cNvPr id="201" name="Google Shape;201;p31"/>
          <p:cNvSpPr/>
          <p:nvPr/>
        </p:nvSpPr>
        <p:spPr>
          <a:xfrm>
            <a:off x="6350198" y="2774990"/>
            <a:ext cx="3585000" cy="2472900"/>
          </a:xfrm>
          <a:prstGeom prst="roundRect">
            <a:avLst>
              <a:gd fmla="val 1497" name="adj"/>
            </a:avLst>
          </a:prstGeom>
          <a:solidFill>
            <a:srgbClr val="F2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31"/>
          <p:cNvSpPr/>
          <p:nvPr/>
        </p:nvSpPr>
        <p:spPr>
          <a:xfrm>
            <a:off x="6598740" y="2787319"/>
            <a:ext cx="30879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2200"/>
              <a:buFont typeface="Montserrat"/>
              <a:buNone/>
            </a:pPr>
            <a:r>
              <a:rPr b="1" i="0" lang="en-US" sz="2200" u="none" cap="none" strike="noStrike">
                <a:solidFill>
                  <a:srgbClr val="3D3838"/>
                </a:solidFill>
                <a:latin typeface="Montserrat"/>
                <a:ea typeface="Montserrat"/>
                <a:cs typeface="Montserrat"/>
                <a:sym typeface="Montserrat"/>
              </a:rPr>
              <a:t>Vérification Préalable</a:t>
            </a:r>
            <a:endParaRPr b="0" i="0" sz="2200" u="none" cap="none" strike="noStrike"/>
          </a:p>
        </p:txBody>
      </p:sp>
      <p:sp>
        <p:nvSpPr>
          <p:cNvPr id="203" name="Google Shape;203;p31"/>
          <p:cNvSpPr/>
          <p:nvPr/>
        </p:nvSpPr>
        <p:spPr>
          <a:xfrm>
            <a:off x="6597015" y="3520440"/>
            <a:ext cx="3091200" cy="14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2631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3D3838"/>
                </a:solidFill>
                <a:latin typeface="Arial"/>
                <a:ea typeface="Arial"/>
                <a:cs typeface="Arial"/>
                <a:sym typeface="Arial"/>
              </a:rPr>
              <a:t>Effectuer des tests de connectivité et de performance avant la migration.</a:t>
            </a:r>
            <a:endParaRPr b="0" i="0" sz="1900" u="none" cap="none" strike="noStrike"/>
          </a:p>
        </p:txBody>
      </p:sp>
      <p:sp>
        <p:nvSpPr>
          <p:cNvPr id="204" name="Google Shape;204;p31"/>
          <p:cNvSpPr/>
          <p:nvPr/>
        </p:nvSpPr>
        <p:spPr>
          <a:xfrm>
            <a:off x="10181868" y="2774990"/>
            <a:ext cx="3585000" cy="2472900"/>
          </a:xfrm>
          <a:prstGeom prst="roundRect">
            <a:avLst>
              <a:gd fmla="val 1497" name="adj"/>
            </a:avLst>
          </a:prstGeom>
          <a:solidFill>
            <a:srgbClr val="F2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31"/>
          <p:cNvSpPr/>
          <p:nvPr/>
        </p:nvSpPr>
        <p:spPr>
          <a:xfrm>
            <a:off x="10428684" y="3021806"/>
            <a:ext cx="28050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2200"/>
              <a:buFont typeface="Montserrat"/>
              <a:buNone/>
            </a:pPr>
            <a:r>
              <a:rPr b="1" i="0" lang="en-US" sz="2200" u="none" cap="none" strike="noStrike">
                <a:solidFill>
                  <a:srgbClr val="3D3838"/>
                </a:solidFill>
                <a:latin typeface="Montserrat"/>
                <a:ea typeface="Montserrat"/>
                <a:cs typeface="Montserrat"/>
                <a:sym typeface="Montserrat"/>
              </a:rPr>
              <a:t>Plan de Retour</a:t>
            </a:r>
            <a:endParaRPr b="0" i="0" sz="2200" u="none" cap="none" strike="noStrike"/>
          </a:p>
        </p:txBody>
      </p:sp>
      <p:sp>
        <p:nvSpPr>
          <p:cNvPr id="206" name="Google Shape;206;p31"/>
          <p:cNvSpPr/>
          <p:nvPr/>
        </p:nvSpPr>
        <p:spPr>
          <a:xfrm>
            <a:off x="10428684" y="3520440"/>
            <a:ext cx="3091200" cy="11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2631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3D3838"/>
                </a:solidFill>
                <a:latin typeface="Arial"/>
                <a:ea typeface="Arial"/>
                <a:cs typeface="Arial"/>
                <a:sym typeface="Arial"/>
              </a:rPr>
              <a:t>Préparer un plan de retour en cas de problème pendant la migration.</a:t>
            </a:r>
            <a:endParaRPr b="0" i="0" sz="1900" u="none" cap="none" strike="noStrike"/>
          </a:p>
        </p:txBody>
      </p:sp>
      <p:sp>
        <p:nvSpPr>
          <p:cNvPr id="207" name="Google Shape;207;p31"/>
          <p:cNvSpPr/>
          <p:nvPr/>
        </p:nvSpPr>
        <p:spPr>
          <a:xfrm>
            <a:off x="6350198" y="5494734"/>
            <a:ext cx="7416300" cy="1732500"/>
          </a:xfrm>
          <a:prstGeom prst="roundRect">
            <a:avLst>
              <a:gd fmla="val 2137" name="adj"/>
            </a:avLst>
          </a:prstGeom>
          <a:solidFill>
            <a:srgbClr val="F2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31"/>
          <p:cNvSpPr/>
          <p:nvPr/>
        </p:nvSpPr>
        <p:spPr>
          <a:xfrm>
            <a:off x="6598740" y="5618101"/>
            <a:ext cx="31641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2200"/>
              <a:buFont typeface="Montserrat"/>
              <a:buNone/>
            </a:pPr>
            <a:r>
              <a:rPr b="1" i="0" lang="en-US" sz="2200" u="none" cap="none" strike="noStrike">
                <a:solidFill>
                  <a:srgbClr val="3D3838"/>
                </a:solidFill>
                <a:latin typeface="Montserrat"/>
                <a:ea typeface="Montserrat"/>
                <a:cs typeface="Montserrat"/>
                <a:sym typeface="Montserrat"/>
              </a:rPr>
              <a:t>Surveillance Continue</a:t>
            </a:r>
            <a:endParaRPr b="0" i="0" sz="2200" u="none" cap="none" strike="noStrike"/>
          </a:p>
        </p:txBody>
      </p:sp>
      <p:sp>
        <p:nvSpPr>
          <p:cNvPr id="209" name="Google Shape;209;p31"/>
          <p:cNvSpPr/>
          <p:nvPr/>
        </p:nvSpPr>
        <p:spPr>
          <a:xfrm>
            <a:off x="6597015" y="6240185"/>
            <a:ext cx="6922800" cy="7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2631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3D3838"/>
                </a:solidFill>
                <a:latin typeface="Arial"/>
                <a:ea typeface="Arial"/>
                <a:cs typeface="Arial"/>
                <a:sym typeface="Arial"/>
              </a:rPr>
              <a:t>Surveiller la VM pendant et après la migration pour détecter les anomalies.</a:t>
            </a:r>
            <a:endParaRPr b="0" i="0" sz="1900" u="none" cap="none" strike="noStrike"/>
          </a:p>
        </p:txBody>
      </p:sp>
      <p:sp>
        <p:nvSpPr>
          <p:cNvPr id="210" name="Google Shape;210;p31"/>
          <p:cNvSpPr/>
          <p:nvPr/>
        </p:nvSpPr>
        <p:spPr>
          <a:xfrm>
            <a:off x="863798" y="3808928"/>
            <a:ext cx="28050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Montserrat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Complexité Accrue</a:t>
            </a:r>
            <a:endParaRPr b="0" i="0" sz="2200" u="none" cap="none" strike="noStrike"/>
          </a:p>
        </p:txBody>
      </p:sp>
      <p:sp>
        <p:nvSpPr>
          <p:cNvPr id="211" name="Google Shape;211;p31"/>
          <p:cNvSpPr/>
          <p:nvPr/>
        </p:nvSpPr>
        <p:spPr>
          <a:xfrm>
            <a:off x="863798" y="4406384"/>
            <a:ext cx="3898800" cy="7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2631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3D3838"/>
                </a:solidFill>
                <a:latin typeface="Arial"/>
                <a:ea typeface="Arial"/>
                <a:cs typeface="Arial"/>
                <a:sym typeface="Arial"/>
              </a:rPr>
              <a:t>Gestion plus complexe comparée à KVM en raison des spécificités de Xen.</a:t>
            </a:r>
            <a:endParaRPr b="0" i="0" sz="1900" u="none" cap="none" strike="noStrike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32" title="shemas 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1175"/>
            <a:ext cx="14325601" cy="690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23" name="Google Shape;223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2835235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33"/>
          <p:cNvSpPr/>
          <p:nvPr/>
        </p:nvSpPr>
        <p:spPr>
          <a:xfrm>
            <a:off x="793790" y="3240172"/>
            <a:ext cx="77274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72D45"/>
              </a:buClr>
              <a:buSzPts val="4450"/>
              <a:buFont typeface="Kanit"/>
              <a:buNone/>
            </a:pPr>
            <a:r>
              <a:rPr b="0" i="0" lang="en-US" sz="4450" u="none" cap="none" strike="noStrike">
                <a:solidFill>
                  <a:srgbClr val="272D45"/>
                </a:solidFill>
                <a:latin typeface="Kanit"/>
                <a:ea typeface="Kanit"/>
                <a:cs typeface="Kanit"/>
                <a:sym typeface="Kanit"/>
              </a:rPr>
              <a:t>Revue des Solutions Existantes</a:t>
            </a:r>
            <a:endParaRPr b="0" i="0" sz="4450" u="none" cap="none" strike="noStrike"/>
          </a:p>
        </p:txBody>
      </p:sp>
      <p:sp>
        <p:nvSpPr>
          <p:cNvPr id="225" name="Google Shape;225;p33"/>
          <p:cNvSpPr/>
          <p:nvPr/>
        </p:nvSpPr>
        <p:spPr>
          <a:xfrm>
            <a:off x="793790" y="5031938"/>
            <a:ext cx="510302" cy="510302"/>
          </a:xfrm>
          <a:prstGeom prst="roundRect">
            <a:avLst>
              <a:gd fmla="val 18669" name="adj"/>
            </a:avLst>
          </a:prstGeom>
          <a:solidFill>
            <a:srgbClr val="DFECE9"/>
          </a:solidFill>
          <a:ln cap="flat" cmpd="sng" w="9525">
            <a:solidFill>
              <a:srgbClr val="C5D2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33"/>
          <p:cNvSpPr/>
          <p:nvPr/>
        </p:nvSpPr>
        <p:spPr>
          <a:xfrm>
            <a:off x="1530906" y="503193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2200"/>
              <a:buFont typeface="Kanit"/>
              <a:buNone/>
            </a:pPr>
            <a:r>
              <a:rPr b="0" i="0" lang="en-US" sz="2200" u="none" cap="none" strike="noStrike">
                <a:solidFill>
                  <a:srgbClr val="2C3249"/>
                </a:solidFill>
                <a:latin typeface="Kanit"/>
                <a:ea typeface="Kanit"/>
                <a:cs typeface="Kanit"/>
                <a:sym typeface="Kanit"/>
              </a:rPr>
              <a:t>Migration Intra-cluster</a:t>
            </a:r>
            <a:endParaRPr b="0" i="0" sz="2200" u="none" cap="none" strike="noStrike"/>
          </a:p>
        </p:txBody>
      </p:sp>
      <p:sp>
        <p:nvSpPr>
          <p:cNvPr id="227" name="Google Shape;227;p33"/>
          <p:cNvSpPr/>
          <p:nvPr/>
        </p:nvSpPr>
        <p:spPr>
          <a:xfrm>
            <a:off x="1530906" y="5522357"/>
            <a:ext cx="3459242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None/>
            </a:pP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Réalisée sur des clusters homogènes avec stockage partagé (ex. Ceph) facilitant le transfert des données.</a:t>
            </a:r>
            <a:endParaRPr b="0" i="0" sz="1750" u="none" cap="none" strike="noStrike"/>
          </a:p>
        </p:txBody>
      </p:sp>
      <p:sp>
        <p:nvSpPr>
          <p:cNvPr id="228" name="Google Shape;228;p33"/>
          <p:cNvSpPr/>
          <p:nvPr/>
        </p:nvSpPr>
        <p:spPr>
          <a:xfrm>
            <a:off x="5216962" y="4885638"/>
            <a:ext cx="510300" cy="510300"/>
          </a:xfrm>
          <a:prstGeom prst="roundRect">
            <a:avLst>
              <a:gd fmla="val 18669" name="adj"/>
            </a:avLst>
          </a:prstGeom>
          <a:solidFill>
            <a:srgbClr val="DFECE9"/>
          </a:solidFill>
          <a:ln cap="flat" cmpd="sng" w="9525">
            <a:solidFill>
              <a:srgbClr val="C5D2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33"/>
          <p:cNvSpPr/>
          <p:nvPr/>
        </p:nvSpPr>
        <p:spPr>
          <a:xfrm>
            <a:off x="5951953" y="4812488"/>
            <a:ext cx="28395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2200"/>
              <a:buFont typeface="Kanit"/>
              <a:buNone/>
            </a:pPr>
            <a:r>
              <a:rPr b="0" i="0" lang="en-US" sz="2200" u="none" cap="none" strike="noStrike">
                <a:solidFill>
                  <a:srgbClr val="2C3249"/>
                </a:solidFill>
                <a:latin typeface="Kanit"/>
                <a:ea typeface="Kanit"/>
                <a:cs typeface="Kanit"/>
                <a:sym typeface="Kanit"/>
              </a:rPr>
              <a:t>Migration Extra-cluster</a:t>
            </a:r>
            <a:endParaRPr b="0" i="0" sz="2200" u="none" cap="none" strike="noStrike"/>
          </a:p>
        </p:txBody>
      </p:sp>
      <p:sp>
        <p:nvSpPr>
          <p:cNvPr id="230" name="Google Shape;230;p33"/>
          <p:cNvSpPr/>
          <p:nvPr/>
        </p:nvSpPr>
        <p:spPr>
          <a:xfrm>
            <a:off x="5954078" y="5522357"/>
            <a:ext cx="3459242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None/>
            </a:pP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Plus complexe, nécessitant des transferts de données supplémentaires et une synchronisation poussée.</a:t>
            </a:r>
            <a:endParaRPr b="0" i="0" sz="1750" u="none" cap="none" strike="noStrike"/>
          </a:p>
        </p:txBody>
      </p:sp>
      <p:sp>
        <p:nvSpPr>
          <p:cNvPr id="231" name="Google Shape;231;p33"/>
          <p:cNvSpPr/>
          <p:nvPr/>
        </p:nvSpPr>
        <p:spPr>
          <a:xfrm>
            <a:off x="9725483" y="4885638"/>
            <a:ext cx="510300" cy="510300"/>
          </a:xfrm>
          <a:prstGeom prst="roundRect">
            <a:avLst>
              <a:gd fmla="val 18669" name="adj"/>
            </a:avLst>
          </a:prstGeom>
          <a:solidFill>
            <a:srgbClr val="DFECE9"/>
          </a:solidFill>
          <a:ln cap="flat" cmpd="sng" w="9525">
            <a:solidFill>
              <a:srgbClr val="C5D2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33"/>
          <p:cNvSpPr/>
          <p:nvPr/>
        </p:nvSpPr>
        <p:spPr>
          <a:xfrm>
            <a:off x="10377249" y="4812476"/>
            <a:ext cx="32220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2200"/>
              <a:buFont typeface="Kanit"/>
              <a:buNone/>
            </a:pPr>
            <a:r>
              <a:rPr b="0" i="0" lang="en-US" sz="2200" u="none" cap="none" strike="noStrike">
                <a:solidFill>
                  <a:srgbClr val="2C3249"/>
                </a:solidFill>
                <a:latin typeface="Kanit"/>
                <a:ea typeface="Kanit"/>
                <a:cs typeface="Kanit"/>
                <a:sym typeface="Kanit"/>
              </a:rPr>
              <a:t>Stockage Local vs Partagé</a:t>
            </a:r>
            <a:endParaRPr b="0" i="0" sz="2200" u="none" cap="none" strike="noStrike"/>
          </a:p>
        </p:txBody>
      </p:sp>
      <p:sp>
        <p:nvSpPr>
          <p:cNvPr id="233" name="Google Shape;233;p33"/>
          <p:cNvSpPr/>
          <p:nvPr/>
        </p:nvSpPr>
        <p:spPr>
          <a:xfrm>
            <a:off x="10377249" y="5522357"/>
            <a:ext cx="3459242" cy="1814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None/>
            </a:pP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Le stockage local implique des transferts complets des images, tandis que le stockage partagé demande une infrastructure plus lourde.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34" title="pres2003202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73550" y="0"/>
            <a:ext cx="7477125" cy="740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45" name="Google Shape;245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35"/>
          <p:cNvSpPr/>
          <p:nvPr/>
        </p:nvSpPr>
        <p:spPr>
          <a:xfrm>
            <a:off x="6280190" y="1074539"/>
            <a:ext cx="7556421" cy="1417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72D45"/>
              </a:buClr>
              <a:buSzPts val="4450"/>
              <a:buFont typeface="Kanit"/>
              <a:buNone/>
            </a:pPr>
            <a:r>
              <a:rPr b="0" i="0" lang="en-US" sz="4450" u="none" cap="none" strike="noStrike">
                <a:solidFill>
                  <a:srgbClr val="272D45"/>
                </a:solidFill>
                <a:latin typeface="Kanit"/>
                <a:ea typeface="Kanit"/>
                <a:cs typeface="Kanit"/>
                <a:sym typeface="Kanit"/>
              </a:rPr>
              <a:t>Notre Projet : Adaptation et Automatisation</a:t>
            </a:r>
            <a:endParaRPr b="0" i="0" sz="4450" u="none" cap="none" strike="noStrike"/>
          </a:p>
        </p:txBody>
      </p:sp>
      <p:sp>
        <p:nvSpPr>
          <p:cNvPr id="247" name="Google Shape;247;p35"/>
          <p:cNvSpPr/>
          <p:nvPr/>
        </p:nvSpPr>
        <p:spPr>
          <a:xfrm>
            <a:off x="6280190" y="2832259"/>
            <a:ext cx="3664863" cy="2410897"/>
          </a:xfrm>
          <a:prstGeom prst="roundRect">
            <a:avLst>
              <a:gd fmla="val 3952" name="adj"/>
            </a:avLst>
          </a:prstGeom>
          <a:solidFill>
            <a:srgbClr val="DFECE9"/>
          </a:solidFill>
          <a:ln cap="flat" cmpd="sng" w="9525">
            <a:solidFill>
              <a:srgbClr val="C5D2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35"/>
          <p:cNvSpPr/>
          <p:nvPr/>
        </p:nvSpPr>
        <p:spPr>
          <a:xfrm>
            <a:off x="6514624" y="3066693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2200"/>
              <a:buFont typeface="Kanit"/>
              <a:buNone/>
            </a:pPr>
            <a:r>
              <a:rPr b="0" i="0" lang="en-US" sz="2200" u="none" cap="none" strike="noStrike">
                <a:solidFill>
                  <a:srgbClr val="2C3249"/>
                </a:solidFill>
                <a:latin typeface="Kanit"/>
                <a:ea typeface="Kanit"/>
                <a:cs typeface="Kanit"/>
                <a:sym typeface="Kanit"/>
              </a:rPr>
              <a:t>Adaptation à Xen</a:t>
            </a:r>
            <a:endParaRPr b="0" i="0" sz="2200" u="none" cap="none" strike="noStrike"/>
          </a:p>
        </p:txBody>
      </p:sp>
      <p:sp>
        <p:nvSpPr>
          <p:cNvPr id="249" name="Google Shape;249;p35"/>
          <p:cNvSpPr/>
          <p:nvPr/>
        </p:nvSpPr>
        <p:spPr>
          <a:xfrm>
            <a:off x="6514624" y="3557111"/>
            <a:ext cx="3195995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None/>
            </a:pP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Intégration spécifique de Xen, respectant ses exigences strictes en matière de compatibilité.</a:t>
            </a:r>
            <a:endParaRPr b="0" i="0" sz="1750" u="none" cap="none" strike="noStrike"/>
          </a:p>
        </p:txBody>
      </p:sp>
      <p:sp>
        <p:nvSpPr>
          <p:cNvPr id="250" name="Google Shape;250;p35"/>
          <p:cNvSpPr/>
          <p:nvPr/>
        </p:nvSpPr>
        <p:spPr>
          <a:xfrm>
            <a:off x="10171867" y="2832259"/>
            <a:ext cx="3664863" cy="2410897"/>
          </a:xfrm>
          <a:prstGeom prst="roundRect">
            <a:avLst>
              <a:gd fmla="val 3952" name="adj"/>
            </a:avLst>
          </a:prstGeom>
          <a:solidFill>
            <a:srgbClr val="DFECE9"/>
          </a:solidFill>
          <a:ln cap="flat" cmpd="sng" w="9525">
            <a:solidFill>
              <a:srgbClr val="C5D2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35"/>
          <p:cNvSpPr/>
          <p:nvPr/>
        </p:nvSpPr>
        <p:spPr>
          <a:xfrm>
            <a:off x="10378076" y="2847443"/>
            <a:ext cx="31572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2200"/>
              <a:buFont typeface="Kanit"/>
              <a:buNone/>
            </a:pPr>
            <a:r>
              <a:rPr b="0" i="0" lang="en-US" sz="2200" u="none" cap="none" strike="noStrike">
                <a:solidFill>
                  <a:srgbClr val="2C3249"/>
                </a:solidFill>
                <a:latin typeface="Kanit"/>
                <a:ea typeface="Kanit"/>
                <a:cs typeface="Kanit"/>
                <a:sym typeface="Kanit"/>
              </a:rPr>
              <a:t>Stockage Partagé via NFS</a:t>
            </a:r>
            <a:endParaRPr b="0" i="0" sz="2200" u="none" cap="none" strike="noStrike"/>
          </a:p>
        </p:txBody>
      </p:sp>
      <p:sp>
        <p:nvSpPr>
          <p:cNvPr id="252" name="Google Shape;252;p35"/>
          <p:cNvSpPr/>
          <p:nvPr/>
        </p:nvSpPr>
        <p:spPr>
          <a:xfrm>
            <a:off x="10406301" y="3557111"/>
            <a:ext cx="3195995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None/>
            </a:pP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Utilisation d’un NFS centralisé pour simplifier le partage des images entre les nœuds.</a:t>
            </a:r>
            <a:endParaRPr b="0" i="0" sz="1750" u="none" cap="none" strike="noStrike"/>
          </a:p>
        </p:txBody>
      </p:sp>
      <p:sp>
        <p:nvSpPr>
          <p:cNvPr id="253" name="Google Shape;253;p35"/>
          <p:cNvSpPr/>
          <p:nvPr/>
        </p:nvSpPr>
        <p:spPr>
          <a:xfrm>
            <a:off x="6207040" y="5530944"/>
            <a:ext cx="7556400" cy="1685100"/>
          </a:xfrm>
          <a:prstGeom prst="roundRect">
            <a:avLst>
              <a:gd fmla="val 5654" name="adj"/>
            </a:avLst>
          </a:prstGeom>
          <a:solidFill>
            <a:srgbClr val="DFECE9"/>
          </a:solidFill>
          <a:ln cap="flat" cmpd="sng" w="9525">
            <a:solidFill>
              <a:srgbClr val="C5D2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35"/>
          <p:cNvSpPr/>
          <p:nvPr/>
        </p:nvSpPr>
        <p:spPr>
          <a:xfrm>
            <a:off x="7599724" y="5583303"/>
            <a:ext cx="37662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2200"/>
              <a:buFont typeface="Kanit"/>
              <a:buNone/>
            </a:pPr>
            <a:r>
              <a:rPr b="0" i="0" lang="en-US" sz="2200" u="none" cap="none" strike="noStrike">
                <a:solidFill>
                  <a:srgbClr val="2C3249"/>
                </a:solidFill>
                <a:latin typeface="Kanit"/>
                <a:ea typeface="Kanit"/>
                <a:cs typeface="Kanit"/>
                <a:sym typeface="Kanit"/>
              </a:rPr>
              <a:t>Automatisation et Vérification</a:t>
            </a:r>
            <a:endParaRPr b="0" i="0" sz="2200" u="none" cap="none" strike="noStrike"/>
          </a:p>
        </p:txBody>
      </p:sp>
      <p:sp>
        <p:nvSpPr>
          <p:cNvPr id="255" name="Google Shape;255;p35"/>
          <p:cNvSpPr/>
          <p:nvPr/>
        </p:nvSpPr>
        <p:spPr>
          <a:xfrm>
            <a:off x="6514624" y="6438672"/>
            <a:ext cx="7087500" cy="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None/>
            </a:pP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Intégration de scripts de vérification et automatisation pour réduire les risques d’erreurs.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61" name="Google Shape;261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36"/>
          <p:cNvSpPr/>
          <p:nvPr/>
        </p:nvSpPr>
        <p:spPr>
          <a:xfrm>
            <a:off x="6280190" y="1384578"/>
            <a:ext cx="7556421" cy="1417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72D45"/>
              </a:buClr>
              <a:buSzPts val="4450"/>
              <a:buFont typeface="Kanit"/>
              <a:buNone/>
            </a:pPr>
            <a:r>
              <a:rPr b="0" i="0" lang="en-US" sz="4450" u="none" cap="none" strike="noStrike">
                <a:solidFill>
                  <a:srgbClr val="272D45"/>
                </a:solidFill>
                <a:latin typeface="Kanit"/>
                <a:ea typeface="Kanit"/>
                <a:cs typeface="Kanit"/>
                <a:sym typeface="Kanit"/>
              </a:rPr>
              <a:t>Pourquoi ce Projet ? Les Améliorations</a:t>
            </a:r>
            <a:endParaRPr b="0" i="0" sz="4450" u="none" cap="none" strike="noStrike"/>
          </a:p>
        </p:txBody>
      </p:sp>
      <p:pic>
        <p:nvPicPr>
          <p:cNvPr descr="preencoded.png" id="263" name="Google Shape;263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0190" y="3142298"/>
            <a:ext cx="1134070" cy="1669852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36"/>
          <p:cNvSpPr/>
          <p:nvPr/>
        </p:nvSpPr>
        <p:spPr>
          <a:xfrm>
            <a:off x="7754422" y="3369112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2200"/>
              <a:buFont typeface="Kanit"/>
              <a:buNone/>
            </a:pPr>
            <a:r>
              <a:rPr b="0" i="0" lang="en-US" sz="2200" u="none" cap="none" strike="noStrike">
                <a:solidFill>
                  <a:srgbClr val="2C3249"/>
                </a:solidFill>
                <a:latin typeface="Kanit"/>
                <a:ea typeface="Kanit"/>
                <a:cs typeface="Kanit"/>
                <a:sym typeface="Kanit"/>
              </a:rPr>
              <a:t>Motivations</a:t>
            </a:r>
            <a:endParaRPr b="0" i="0" sz="2200" u="none" cap="none" strike="noStrike"/>
          </a:p>
        </p:txBody>
      </p:sp>
      <p:sp>
        <p:nvSpPr>
          <p:cNvPr id="265" name="Google Shape;265;p36"/>
          <p:cNvSpPr/>
          <p:nvPr/>
        </p:nvSpPr>
        <p:spPr>
          <a:xfrm>
            <a:off x="7754422" y="3859530"/>
            <a:ext cx="6082189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None/>
            </a:pP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Réduire les temps d’arrêt et adapter OpenStack à un environnement Xen dans GRID5000.</a:t>
            </a:r>
            <a:endParaRPr b="0" i="0" sz="1750" u="none" cap="none" strike="noStrike"/>
          </a:p>
        </p:txBody>
      </p:sp>
      <p:pic>
        <p:nvPicPr>
          <p:cNvPr descr="preencoded.png" id="266" name="Google Shape;266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0190" y="4812149"/>
            <a:ext cx="1134070" cy="2032754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36"/>
          <p:cNvSpPr/>
          <p:nvPr/>
        </p:nvSpPr>
        <p:spPr>
          <a:xfrm>
            <a:off x="7754422" y="5038963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2200"/>
              <a:buFont typeface="Kanit"/>
              <a:buNone/>
            </a:pPr>
            <a:r>
              <a:rPr b="0" i="0" lang="en-US" sz="2200" u="none" cap="none" strike="noStrike">
                <a:solidFill>
                  <a:srgbClr val="2C3249"/>
                </a:solidFill>
                <a:latin typeface="Kanit"/>
                <a:ea typeface="Kanit"/>
                <a:cs typeface="Kanit"/>
                <a:sym typeface="Kanit"/>
              </a:rPr>
              <a:t>Améliorations</a:t>
            </a:r>
            <a:endParaRPr b="0" i="0" sz="2200" u="none" cap="none" strike="noStrike"/>
          </a:p>
        </p:txBody>
      </p:sp>
      <p:sp>
        <p:nvSpPr>
          <p:cNvPr id="268" name="Google Shape;268;p36"/>
          <p:cNvSpPr/>
          <p:nvPr/>
        </p:nvSpPr>
        <p:spPr>
          <a:xfrm>
            <a:off x="7754422" y="5529382"/>
            <a:ext cx="6082189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None/>
            </a:pP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Processus de migration optimisé, stockage NFS centralisé et utilisation d’un environnement Xen via Kadeploy.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7"/>
          <p:cNvSpPr/>
          <p:nvPr/>
        </p:nvSpPr>
        <p:spPr>
          <a:xfrm>
            <a:off x="793790" y="1251109"/>
            <a:ext cx="8683228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72D45"/>
              </a:buClr>
              <a:buSzPts val="4450"/>
              <a:buFont typeface="Kanit"/>
              <a:buNone/>
            </a:pPr>
            <a:r>
              <a:rPr b="0" i="0" lang="en-US" sz="4450" u="none" cap="none" strike="noStrike">
                <a:solidFill>
                  <a:srgbClr val="272D45"/>
                </a:solidFill>
                <a:latin typeface="Kanit"/>
                <a:ea typeface="Kanit"/>
                <a:cs typeface="Kanit"/>
                <a:sym typeface="Kanit"/>
              </a:rPr>
              <a:t>Architecture Globale de la Solution</a:t>
            </a:r>
            <a:endParaRPr b="0" i="0" sz="4450" u="none" cap="none" strike="noStrike"/>
          </a:p>
        </p:txBody>
      </p:sp>
      <p:sp>
        <p:nvSpPr>
          <p:cNvPr id="275" name="Google Shape;275;p37"/>
          <p:cNvSpPr/>
          <p:nvPr/>
        </p:nvSpPr>
        <p:spPr>
          <a:xfrm>
            <a:off x="1857256" y="286154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2200"/>
              <a:buFont typeface="Kanit"/>
              <a:buNone/>
            </a:pPr>
            <a:r>
              <a:rPr b="0" i="0" lang="en-US" sz="2200" u="none" cap="none" strike="noStrike">
                <a:solidFill>
                  <a:srgbClr val="2C3249"/>
                </a:solidFill>
                <a:latin typeface="Kanit"/>
                <a:ea typeface="Kanit"/>
                <a:cs typeface="Kanit"/>
                <a:sym typeface="Kanit"/>
              </a:rPr>
              <a:t>OpenStack</a:t>
            </a:r>
            <a:endParaRPr b="0" i="0" sz="2200" u="none" cap="none" strike="noStrike"/>
          </a:p>
        </p:txBody>
      </p:sp>
      <p:sp>
        <p:nvSpPr>
          <p:cNvPr id="276" name="Google Shape;276;p37"/>
          <p:cNvSpPr/>
          <p:nvPr/>
        </p:nvSpPr>
        <p:spPr>
          <a:xfrm>
            <a:off x="793790" y="3351967"/>
            <a:ext cx="3898702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None/>
            </a:pP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Nova, Glance, Neutron, Keystone, Cinder.</a:t>
            </a:r>
            <a:endParaRPr b="0" i="0" sz="1750" u="none" cap="none" strike="noStrike"/>
          </a:p>
        </p:txBody>
      </p:sp>
      <p:pic>
        <p:nvPicPr>
          <p:cNvPr descr="preencoded.png" id="277" name="Google Shape;277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32653" y="2413516"/>
            <a:ext cx="4564975" cy="4564975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37"/>
          <p:cNvSpPr/>
          <p:nvPr/>
        </p:nvSpPr>
        <p:spPr>
          <a:xfrm>
            <a:off x="6226731" y="3176588"/>
            <a:ext cx="339328" cy="424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37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2650"/>
              <a:buFont typeface="Kanit"/>
              <a:buNone/>
            </a:pPr>
            <a:r>
              <a:rPr b="0" i="0" lang="en-US" sz="2650" u="none" cap="none" strike="noStrike">
                <a:solidFill>
                  <a:srgbClr val="2C3249"/>
                </a:solidFill>
                <a:latin typeface="Kanit"/>
                <a:ea typeface="Kanit"/>
                <a:cs typeface="Kanit"/>
                <a:sym typeface="Kanit"/>
              </a:rPr>
              <a:t>1</a:t>
            </a:r>
            <a:endParaRPr b="0" i="0" sz="2650" u="none" cap="none" strike="noStrike"/>
          </a:p>
        </p:txBody>
      </p:sp>
      <p:sp>
        <p:nvSpPr>
          <p:cNvPr id="279" name="Google Shape;279;p37"/>
          <p:cNvSpPr/>
          <p:nvPr/>
        </p:nvSpPr>
        <p:spPr>
          <a:xfrm>
            <a:off x="9937790" y="286154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2200"/>
              <a:buFont typeface="Kanit"/>
              <a:buNone/>
            </a:pPr>
            <a:r>
              <a:rPr b="0" i="0" lang="en-US" sz="2200" u="none" cap="none" strike="noStrike">
                <a:solidFill>
                  <a:srgbClr val="2C3249"/>
                </a:solidFill>
                <a:latin typeface="Kanit"/>
                <a:ea typeface="Kanit"/>
                <a:cs typeface="Kanit"/>
                <a:sym typeface="Kanit"/>
              </a:rPr>
              <a:t>GRID5000</a:t>
            </a:r>
            <a:endParaRPr b="0" i="0" sz="2200" u="none" cap="none" strike="noStrike"/>
          </a:p>
        </p:txBody>
      </p:sp>
      <p:sp>
        <p:nvSpPr>
          <p:cNvPr id="280" name="Google Shape;280;p37"/>
          <p:cNvSpPr/>
          <p:nvPr/>
        </p:nvSpPr>
        <p:spPr>
          <a:xfrm>
            <a:off x="9937790" y="3351967"/>
            <a:ext cx="3898821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None/>
            </a:pP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Nœuds de contrôle et de calcul sur le même VLAN.</a:t>
            </a:r>
            <a:endParaRPr b="0" i="0" sz="1750" u="none" cap="none" strike="noStrike"/>
          </a:p>
        </p:txBody>
      </p:sp>
      <p:pic>
        <p:nvPicPr>
          <p:cNvPr descr="preencoded.png" id="281" name="Google Shape;281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32653" y="2413516"/>
            <a:ext cx="4564975" cy="4564975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37"/>
          <p:cNvSpPr/>
          <p:nvPr/>
        </p:nvSpPr>
        <p:spPr>
          <a:xfrm>
            <a:off x="8452604" y="3565088"/>
            <a:ext cx="339328" cy="424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37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2650"/>
              <a:buFont typeface="Kanit"/>
              <a:buNone/>
            </a:pPr>
            <a:r>
              <a:rPr b="0" i="0" lang="en-US" sz="2650" u="none" cap="none" strike="noStrike">
                <a:solidFill>
                  <a:srgbClr val="2C3249"/>
                </a:solidFill>
                <a:latin typeface="Kanit"/>
                <a:ea typeface="Kanit"/>
                <a:cs typeface="Kanit"/>
                <a:sym typeface="Kanit"/>
              </a:rPr>
              <a:t>2</a:t>
            </a:r>
            <a:endParaRPr b="0" i="0" sz="2650" u="none" cap="none" strike="noStrike"/>
          </a:p>
        </p:txBody>
      </p:sp>
      <p:sp>
        <p:nvSpPr>
          <p:cNvPr id="283" name="Google Shape;283;p37"/>
          <p:cNvSpPr/>
          <p:nvPr/>
        </p:nvSpPr>
        <p:spPr>
          <a:xfrm>
            <a:off x="9937790" y="5314117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2200"/>
              <a:buFont typeface="Kanit"/>
              <a:buNone/>
            </a:pPr>
            <a:r>
              <a:rPr b="0" i="0" lang="en-US" sz="2200" u="none" cap="none" strike="noStrike">
                <a:solidFill>
                  <a:srgbClr val="2C3249"/>
                </a:solidFill>
                <a:latin typeface="Kanit"/>
                <a:ea typeface="Kanit"/>
                <a:cs typeface="Kanit"/>
                <a:sym typeface="Kanit"/>
              </a:rPr>
              <a:t>Serveur NFS</a:t>
            </a:r>
            <a:endParaRPr b="0" i="0" sz="2200" u="none" cap="none" strike="noStrike"/>
          </a:p>
        </p:txBody>
      </p:sp>
      <p:sp>
        <p:nvSpPr>
          <p:cNvPr id="284" name="Google Shape;284;p37"/>
          <p:cNvSpPr/>
          <p:nvPr/>
        </p:nvSpPr>
        <p:spPr>
          <a:xfrm>
            <a:off x="9937790" y="5804535"/>
            <a:ext cx="3898821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None/>
            </a:pP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Partage les images avec tous les nœuds.</a:t>
            </a:r>
            <a:endParaRPr b="0" i="0" sz="1750" u="none" cap="none" strike="noStrike"/>
          </a:p>
        </p:txBody>
      </p:sp>
      <p:pic>
        <p:nvPicPr>
          <p:cNvPr descr="preencoded.png" id="285" name="Google Shape;285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32653" y="2413516"/>
            <a:ext cx="4564975" cy="4564975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37"/>
          <p:cNvSpPr/>
          <p:nvPr/>
        </p:nvSpPr>
        <p:spPr>
          <a:xfrm>
            <a:off x="8064103" y="5790962"/>
            <a:ext cx="339328" cy="424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37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2650"/>
              <a:buFont typeface="Kanit"/>
              <a:buNone/>
            </a:pPr>
            <a:r>
              <a:rPr b="0" i="0" lang="en-US" sz="2650" u="none" cap="none" strike="noStrike">
                <a:solidFill>
                  <a:srgbClr val="2C3249"/>
                </a:solidFill>
                <a:latin typeface="Kanit"/>
                <a:ea typeface="Kanit"/>
                <a:cs typeface="Kanit"/>
                <a:sym typeface="Kanit"/>
              </a:rPr>
              <a:t>3</a:t>
            </a:r>
            <a:endParaRPr b="0" i="0" sz="2650" u="none" cap="none" strike="noStrike"/>
          </a:p>
        </p:txBody>
      </p:sp>
      <p:sp>
        <p:nvSpPr>
          <p:cNvPr id="287" name="Google Shape;287;p37"/>
          <p:cNvSpPr/>
          <p:nvPr/>
        </p:nvSpPr>
        <p:spPr>
          <a:xfrm>
            <a:off x="1857256" y="5314117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2200"/>
              <a:buFont typeface="Kanit"/>
              <a:buNone/>
            </a:pPr>
            <a:r>
              <a:rPr b="0" i="0" lang="en-US" sz="2200" u="none" cap="none" strike="noStrike">
                <a:solidFill>
                  <a:srgbClr val="2C3249"/>
                </a:solidFill>
                <a:latin typeface="Kanit"/>
                <a:ea typeface="Kanit"/>
                <a:cs typeface="Kanit"/>
                <a:sym typeface="Kanit"/>
              </a:rPr>
              <a:t>Kadeploy</a:t>
            </a:r>
            <a:endParaRPr b="0" i="0" sz="2200" u="none" cap="none" strike="noStrike"/>
          </a:p>
        </p:txBody>
      </p:sp>
      <p:sp>
        <p:nvSpPr>
          <p:cNvPr id="288" name="Google Shape;288;p37"/>
          <p:cNvSpPr/>
          <p:nvPr/>
        </p:nvSpPr>
        <p:spPr>
          <a:xfrm>
            <a:off x="793790" y="5804535"/>
            <a:ext cx="3898702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None/>
            </a:pP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Déploiement pour un environnement Xen homogène.</a:t>
            </a:r>
            <a:endParaRPr b="0" i="0" sz="1750" u="none" cap="none" strike="noStrike"/>
          </a:p>
        </p:txBody>
      </p:sp>
      <p:pic>
        <p:nvPicPr>
          <p:cNvPr descr="preencoded.png" id="289" name="Google Shape;289;p3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32653" y="2413516"/>
            <a:ext cx="4564975" cy="4564975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37"/>
          <p:cNvSpPr/>
          <p:nvPr/>
        </p:nvSpPr>
        <p:spPr>
          <a:xfrm>
            <a:off x="5838230" y="5402461"/>
            <a:ext cx="339328" cy="424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37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2650"/>
              <a:buFont typeface="Kanit"/>
              <a:buNone/>
            </a:pPr>
            <a:r>
              <a:rPr b="0" i="0" lang="en-US" sz="2650" u="none" cap="none" strike="noStrike">
                <a:solidFill>
                  <a:srgbClr val="2C3249"/>
                </a:solidFill>
                <a:latin typeface="Kanit"/>
                <a:ea typeface="Kanit"/>
                <a:cs typeface="Kanit"/>
                <a:sym typeface="Kanit"/>
              </a:rPr>
              <a:t>4</a:t>
            </a:r>
            <a:endParaRPr b="0" i="0" sz="2650" u="none" cap="none" strike="noStrike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" name="Google Shape;296;p38" title="presentation auda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0344150" cy="693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2" name="Google Shape;302;p39" title="shema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9730207" cy="79247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0"/>
          <p:cNvSpPr/>
          <p:nvPr/>
        </p:nvSpPr>
        <p:spPr>
          <a:xfrm>
            <a:off x="640490" y="198349"/>
            <a:ext cx="114246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72D45"/>
              </a:buClr>
              <a:buSzPts val="4450"/>
              <a:buFont typeface="Kanit"/>
              <a:buNone/>
            </a:pPr>
            <a:r>
              <a:rPr b="0" i="0" lang="en-US" sz="4450" u="none" cap="none" strike="noStrike">
                <a:solidFill>
                  <a:srgbClr val="272D45"/>
                </a:solidFill>
                <a:latin typeface="Kanit"/>
                <a:ea typeface="Kanit"/>
                <a:cs typeface="Kanit"/>
                <a:sym typeface="Kanit"/>
              </a:rPr>
              <a:t>Processus de Migration – Approche Technique </a:t>
            </a:r>
            <a:r>
              <a:rPr lang="en-US" sz="4450">
                <a:solidFill>
                  <a:srgbClr val="272D45"/>
                </a:solidFill>
                <a:latin typeface="Kanit"/>
                <a:ea typeface="Kanit"/>
                <a:cs typeface="Kanit"/>
                <a:sym typeface="Kanit"/>
              </a:rPr>
              <a:t>(VOIR ANNEXE)</a:t>
            </a:r>
            <a:endParaRPr b="0" i="0" sz="4450" u="none" cap="none" strike="noStrike"/>
          </a:p>
        </p:txBody>
      </p:sp>
      <p:sp>
        <p:nvSpPr>
          <p:cNvPr id="309" name="Google Shape;309;p40"/>
          <p:cNvSpPr/>
          <p:nvPr/>
        </p:nvSpPr>
        <p:spPr>
          <a:xfrm>
            <a:off x="793790" y="2440781"/>
            <a:ext cx="2173724" cy="1306949"/>
          </a:xfrm>
          <a:prstGeom prst="roundRect">
            <a:avLst>
              <a:gd fmla="val 7289" name="adj"/>
            </a:avLst>
          </a:prstGeom>
          <a:solidFill>
            <a:srgbClr val="DFECE9"/>
          </a:solidFill>
          <a:ln cap="flat" cmpd="sng" w="9525">
            <a:solidFill>
              <a:srgbClr val="C5D2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40"/>
          <p:cNvSpPr/>
          <p:nvPr/>
        </p:nvSpPr>
        <p:spPr>
          <a:xfrm>
            <a:off x="1721167" y="2894886"/>
            <a:ext cx="318968" cy="3986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2500"/>
              <a:buFont typeface="Kanit"/>
              <a:buNone/>
            </a:pPr>
            <a:r>
              <a:rPr b="0" i="0" lang="en-US" sz="2500" u="none" cap="none" strike="noStrike">
                <a:solidFill>
                  <a:srgbClr val="2C3249"/>
                </a:solidFill>
                <a:latin typeface="Kanit"/>
                <a:ea typeface="Kanit"/>
                <a:cs typeface="Kanit"/>
                <a:sym typeface="Kanit"/>
              </a:rPr>
              <a:t>1</a:t>
            </a:r>
            <a:endParaRPr b="0" i="0" sz="2500" u="none" cap="none" strike="noStrike"/>
          </a:p>
        </p:txBody>
      </p:sp>
      <p:sp>
        <p:nvSpPr>
          <p:cNvPr id="311" name="Google Shape;311;p40"/>
          <p:cNvSpPr/>
          <p:nvPr/>
        </p:nvSpPr>
        <p:spPr>
          <a:xfrm>
            <a:off x="3194328" y="2667595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2200"/>
              <a:buFont typeface="Kanit"/>
              <a:buNone/>
            </a:pPr>
            <a:r>
              <a:rPr b="0" i="0" lang="en-US" sz="2200" u="none" cap="none" strike="noStrike">
                <a:solidFill>
                  <a:srgbClr val="2C3249"/>
                </a:solidFill>
                <a:latin typeface="Kanit"/>
                <a:ea typeface="Kanit"/>
                <a:cs typeface="Kanit"/>
                <a:sym typeface="Kanit"/>
              </a:rPr>
              <a:t>Pré-migration</a:t>
            </a:r>
            <a:endParaRPr b="0" i="0" sz="2200" u="none" cap="none" strike="noStrike"/>
          </a:p>
        </p:txBody>
      </p:sp>
      <p:sp>
        <p:nvSpPr>
          <p:cNvPr id="312" name="Google Shape;312;p40"/>
          <p:cNvSpPr/>
          <p:nvPr/>
        </p:nvSpPr>
        <p:spPr>
          <a:xfrm>
            <a:off x="3194328" y="3158014"/>
            <a:ext cx="6316980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None/>
            </a:pP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Vérification de l’état de la VM et validation des ressources.</a:t>
            </a:r>
            <a:endParaRPr b="0" i="0" sz="1750" u="none" cap="none" strike="noStrike"/>
          </a:p>
        </p:txBody>
      </p:sp>
      <p:sp>
        <p:nvSpPr>
          <p:cNvPr id="313" name="Google Shape;313;p40"/>
          <p:cNvSpPr/>
          <p:nvPr/>
        </p:nvSpPr>
        <p:spPr>
          <a:xfrm>
            <a:off x="3080861" y="3732490"/>
            <a:ext cx="10642402" cy="15240"/>
          </a:xfrm>
          <a:prstGeom prst="roundRect">
            <a:avLst>
              <a:gd fmla="val 625116" name="adj"/>
            </a:avLst>
          </a:prstGeom>
          <a:solidFill>
            <a:srgbClr val="C5D2C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40"/>
          <p:cNvSpPr/>
          <p:nvPr/>
        </p:nvSpPr>
        <p:spPr>
          <a:xfrm>
            <a:off x="793790" y="3861078"/>
            <a:ext cx="4347567" cy="1306949"/>
          </a:xfrm>
          <a:prstGeom prst="roundRect">
            <a:avLst>
              <a:gd fmla="val 7289" name="adj"/>
            </a:avLst>
          </a:prstGeom>
          <a:solidFill>
            <a:srgbClr val="DFECE9"/>
          </a:solidFill>
          <a:ln cap="flat" cmpd="sng" w="9525">
            <a:solidFill>
              <a:srgbClr val="C5D2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40"/>
          <p:cNvSpPr/>
          <p:nvPr/>
        </p:nvSpPr>
        <p:spPr>
          <a:xfrm>
            <a:off x="2808089" y="4315182"/>
            <a:ext cx="318968" cy="3986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2500"/>
              <a:buFont typeface="Kanit"/>
              <a:buNone/>
            </a:pPr>
            <a:r>
              <a:rPr b="0" i="0" lang="en-US" sz="2500" u="none" cap="none" strike="noStrike">
                <a:solidFill>
                  <a:srgbClr val="2C3249"/>
                </a:solidFill>
                <a:latin typeface="Kanit"/>
                <a:ea typeface="Kanit"/>
                <a:cs typeface="Kanit"/>
                <a:sym typeface="Kanit"/>
              </a:rPr>
              <a:t>2</a:t>
            </a:r>
            <a:endParaRPr b="0" i="0" sz="2500" u="none" cap="none" strike="noStrike"/>
          </a:p>
        </p:txBody>
      </p:sp>
      <p:sp>
        <p:nvSpPr>
          <p:cNvPr id="316" name="Google Shape;316;p40"/>
          <p:cNvSpPr/>
          <p:nvPr/>
        </p:nvSpPr>
        <p:spPr>
          <a:xfrm>
            <a:off x="5368171" y="4087892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2200"/>
              <a:buFont typeface="Kanit"/>
              <a:buNone/>
            </a:pPr>
            <a:r>
              <a:rPr b="0" i="0" lang="en-US" sz="2200" u="none" cap="none" strike="noStrike">
                <a:solidFill>
                  <a:srgbClr val="2C3249"/>
                </a:solidFill>
                <a:latin typeface="Kanit"/>
                <a:ea typeface="Kanit"/>
                <a:cs typeface="Kanit"/>
                <a:sym typeface="Kanit"/>
              </a:rPr>
              <a:t>Initiation par Nova</a:t>
            </a:r>
            <a:endParaRPr b="0" i="0" sz="2200" u="none" cap="none" strike="noStrike"/>
          </a:p>
        </p:txBody>
      </p:sp>
      <p:sp>
        <p:nvSpPr>
          <p:cNvPr id="317" name="Google Shape;317;p40"/>
          <p:cNvSpPr/>
          <p:nvPr/>
        </p:nvSpPr>
        <p:spPr>
          <a:xfrm>
            <a:off x="5368171" y="4578310"/>
            <a:ext cx="538364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None/>
            </a:pP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Envoi de la commande et sélection du nœud cible.</a:t>
            </a:r>
            <a:endParaRPr b="0" i="0" sz="1750" u="none" cap="none" strike="noStrike"/>
          </a:p>
        </p:txBody>
      </p:sp>
      <p:sp>
        <p:nvSpPr>
          <p:cNvPr id="318" name="Google Shape;318;p40"/>
          <p:cNvSpPr/>
          <p:nvPr/>
        </p:nvSpPr>
        <p:spPr>
          <a:xfrm>
            <a:off x="5254704" y="5152787"/>
            <a:ext cx="8468558" cy="15240"/>
          </a:xfrm>
          <a:prstGeom prst="roundRect">
            <a:avLst>
              <a:gd fmla="val 625116" name="adj"/>
            </a:avLst>
          </a:prstGeom>
          <a:solidFill>
            <a:srgbClr val="C5D2C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40"/>
          <p:cNvSpPr/>
          <p:nvPr/>
        </p:nvSpPr>
        <p:spPr>
          <a:xfrm>
            <a:off x="793790" y="5281374"/>
            <a:ext cx="6521410" cy="1669852"/>
          </a:xfrm>
          <a:prstGeom prst="roundRect">
            <a:avLst>
              <a:gd fmla="val 5705" name="adj"/>
            </a:avLst>
          </a:prstGeom>
          <a:solidFill>
            <a:srgbClr val="DFECE9"/>
          </a:solidFill>
          <a:ln cap="flat" cmpd="sng" w="9525">
            <a:solidFill>
              <a:srgbClr val="C5D2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40"/>
          <p:cNvSpPr/>
          <p:nvPr/>
        </p:nvSpPr>
        <p:spPr>
          <a:xfrm>
            <a:off x="3895011" y="5916930"/>
            <a:ext cx="318968" cy="3986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2500"/>
              <a:buFont typeface="Kanit"/>
              <a:buNone/>
            </a:pPr>
            <a:r>
              <a:rPr b="0" i="0" lang="en-US" sz="2500" u="none" cap="none" strike="noStrike">
                <a:solidFill>
                  <a:srgbClr val="2C3249"/>
                </a:solidFill>
                <a:latin typeface="Kanit"/>
                <a:ea typeface="Kanit"/>
                <a:cs typeface="Kanit"/>
                <a:sym typeface="Kanit"/>
              </a:rPr>
              <a:t>3</a:t>
            </a:r>
            <a:endParaRPr b="0" i="0" sz="2500" u="none" cap="none" strike="noStrike"/>
          </a:p>
        </p:txBody>
      </p:sp>
      <p:sp>
        <p:nvSpPr>
          <p:cNvPr id="321" name="Google Shape;321;p40"/>
          <p:cNvSpPr/>
          <p:nvPr/>
        </p:nvSpPr>
        <p:spPr>
          <a:xfrm>
            <a:off x="7542014" y="550818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2200"/>
              <a:buFont typeface="Kanit"/>
              <a:buNone/>
            </a:pPr>
            <a:r>
              <a:rPr b="0" i="0" lang="en-US" sz="2200" u="none" cap="none" strike="noStrike">
                <a:solidFill>
                  <a:srgbClr val="2C3249"/>
                </a:solidFill>
                <a:latin typeface="Kanit"/>
                <a:ea typeface="Kanit"/>
                <a:cs typeface="Kanit"/>
                <a:sym typeface="Kanit"/>
              </a:rPr>
              <a:t>Transfert</a:t>
            </a:r>
            <a:endParaRPr b="0" i="0" sz="2200" u="none" cap="none" strike="noStrike"/>
          </a:p>
        </p:txBody>
      </p:sp>
      <p:sp>
        <p:nvSpPr>
          <p:cNvPr id="322" name="Google Shape;322;p40"/>
          <p:cNvSpPr/>
          <p:nvPr/>
        </p:nvSpPr>
        <p:spPr>
          <a:xfrm>
            <a:off x="7542014" y="5998607"/>
            <a:ext cx="6067782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None/>
            </a:pP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Transfert de la mémoire et de l’état CPU ou copie de l’image.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41"/>
          <p:cNvSpPr/>
          <p:nvPr/>
        </p:nvSpPr>
        <p:spPr>
          <a:xfrm>
            <a:off x="1062015" y="1919787"/>
            <a:ext cx="95190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72D45"/>
              </a:buClr>
              <a:buSzPts val="4450"/>
              <a:buFont typeface="Kanit"/>
              <a:buNone/>
            </a:pPr>
            <a:r>
              <a:rPr b="0" i="0" lang="en-US" sz="4450" u="none" cap="none" strike="noStrike">
                <a:solidFill>
                  <a:srgbClr val="272D45"/>
                </a:solidFill>
                <a:latin typeface="Kanit"/>
                <a:ea typeface="Kanit"/>
                <a:cs typeface="Kanit"/>
                <a:sym typeface="Kanit"/>
              </a:rPr>
              <a:t>Migration Intra-cluster et Extra-cluster</a:t>
            </a:r>
            <a:endParaRPr b="0" i="0" sz="4450" u="none" cap="none" strike="noStrike"/>
          </a:p>
        </p:txBody>
      </p:sp>
      <p:sp>
        <p:nvSpPr>
          <p:cNvPr id="329" name="Google Shape;329;p41"/>
          <p:cNvSpPr/>
          <p:nvPr/>
        </p:nvSpPr>
        <p:spPr>
          <a:xfrm>
            <a:off x="793790" y="3997166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D45"/>
              </a:buClr>
              <a:buSzPts val="2200"/>
              <a:buFont typeface="Kanit"/>
              <a:buNone/>
            </a:pPr>
            <a:r>
              <a:rPr b="0" i="0" lang="en-US" sz="2200" u="none" cap="none" strike="noStrike">
                <a:solidFill>
                  <a:srgbClr val="272D45"/>
                </a:solidFill>
                <a:latin typeface="Kanit"/>
                <a:ea typeface="Kanit"/>
                <a:cs typeface="Kanit"/>
                <a:sym typeface="Kanit"/>
              </a:rPr>
              <a:t>Intra-cluster</a:t>
            </a:r>
            <a:endParaRPr b="0" i="0" sz="2200" u="none" cap="none" strike="noStrike"/>
          </a:p>
        </p:txBody>
      </p:sp>
      <p:sp>
        <p:nvSpPr>
          <p:cNvPr id="330" name="Google Shape;330;p41"/>
          <p:cNvSpPr/>
          <p:nvPr/>
        </p:nvSpPr>
        <p:spPr>
          <a:xfrm>
            <a:off x="793790" y="4578310"/>
            <a:ext cx="6244709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None/>
            </a:pP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Migrations entre nœuds du même cluster, simplifiées par le stockage partagé NFS.</a:t>
            </a:r>
            <a:endParaRPr b="0" i="0" sz="1750" u="none" cap="none" strike="noStrike"/>
          </a:p>
        </p:txBody>
      </p:sp>
      <p:sp>
        <p:nvSpPr>
          <p:cNvPr id="331" name="Google Shape;331;p41"/>
          <p:cNvSpPr/>
          <p:nvPr/>
        </p:nvSpPr>
        <p:spPr>
          <a:xfrm>
            <a:off x="7599521" y="3997166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D45"/>
              </a:buClr>
              <a:buSzPts val="2200"/>
              <a:buFont typeface="Kanit"/>
              <a:buNone/>
            </a:pPr>
            <a:r>
              <a:rPr b="0" i="0" lang="en-US" sz="2200" u="none" cap="none" strike="noStrike">
                <a:solidFill>
                  <a:srgbClr val="272D45"/>
                </a:solidFill>
                <a:latin typeface="Kanit"/>
                <a:ea typeface="Kanit"/>
                <a:cs typeface="Kanit"/>
                <a:sym typeface="Kanit"/>
              </a:rPr>
              <a:t>Extra-cluster</a:t>
            </a:r>
            <a:endParaRPr b="0" i="0" sz="2200" u="none" cap="none" strike="noStrike"/>
          </a:p>
        </p:txBody>
      </p:sp>
      <p:sp>
        <p:nvSpPr>
          <p:cNvPr id="332" name="Google Shape;332;p41"/>
          <p:cNvSpPr/>
          <p:nvPr/>
        </p:nvSpPr>
        <p:spPr>
          <a:xfrm>
            <a:off x="7599521" y="4578310"/>
            <a:ext cx="6244709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None/>
            </a:pP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Migration entre différents clusters, nécessitant une synchronisation avancée.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42"/>
          <p:cNvSpPr/>
          <p:nvPr/>
        </p:nvSpPr>
        <p:spPr>
          <a:xfrm>
            <a:off x="2561615" y="1301216"/>
            <a:ext cx="77676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72D45"/>
              </a:buClr>
              <a:buSzPts val="4450"/>
              <a:buFont typeface="Kanit"/>
              <a:buNone/>
            </a:pPr>
            <a:r>
              <a:rPr b="0" i="0" lang="en-US" sz="4450" u="none" cap="none" strike="noStrike">
                <a:solidFill>
                  <a:srgbClr val="272D45"/>
                </a:solidFill>
                <a:latin typeface="Kanit"/>
                <a:ea typeface="Kanit"/>
                <a:cs typeface="Kanit"/>
                <a:sym typeface="Kanit"/>
              </a:rPr>
              <a:t>Rôle et Importance des Fichiers</a:t>
            </a:r>
            <a:endParaRPr b="0" i="0" sz="4450" u="none" cap="none" strike="noStrike"/>
          </a:p>
        </p:txBody>
      </p:sp>
      <p:sp>
        <p:nvSpPr>
          <p:cNvPr id="339" name="Google Shape;339;p42"/>
          <p:cNvSpPr/>
          <p:nvPr/>
        </p:nvSpPr>
        <p:spPr>
          <a:xfrm>
            <a:off x="793790" y="3547824"/>
            <a:ext cx="510302" cy="510302"/>
          </a:xfrm>
          <a:prstGeom prst="roundRect">
            <a:avLst>
              <a:gd fmla="val 18669" name="adj"/>
            </a:avLst>
          </a:prstGeom>
          <a:solidFill>
            <a:srgbClr val="DFECE9"/>
          </a:solidFill>
          <a:ln cap="flat" cmpd="sng" w="9525">
            <a:solidFill>
              <a:srgbClr val="C5D2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42"/>
          <p:cNvSpPr/>
          <p:nvPr/>
        </p:nvSpPr>
        <p:spPr>
          <a:xfrm>
            <a:off x="878860" y="3590330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2650"/>
              <a:buFont typeface="Kanit"/>
              <a:buNone/>
            </a:pPr>
            <a:r>
              <a:rPr b="0" i="0" lang="en-US" sz="2650" u="none" cap="none" strike="noStrike">
                <a:solidFill>
                  <a:srgbClr val="2C3249"/>
                </a:solidFill>
                <a:latin typeface="Kanit"/>
                <a:ea typeface="Kanit"/>
                <a:cs typeface="Kanit"/>
                <a:sym typeface="Kanit"/>
              </a:rPr>
              <a:t>1</a:t>
            </a:r>
            <a:endParaRPr b="0" i="0" sz="2650" u="none" cap="none" strike="noStrike"/>
          </a:p>
        </p:txBody>
      </p:sp>
      <p:sp>
        <p:nvSpPr>
          <p:cNvPr id="341" name="Google Shape;341;p42"/>
          <p:cNvSpPr/>
          <p:nvPr/>
        </p:nvSpPr>
        <p:spPr>
          <a:xfrm>
            <a:off x="1530906" y="3547824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2200"/>
              <a:buFont typeface="Kanit"/>
              <a:buNone/>
            </a:pPr>
            <a:r>
              <a:rPr b="0" i="0" lang="en-US" sz="2200" u="none" cap="none" strike="noStrike">
                <a:solidFill>
                  <a:srgbClr val="2C3249"/>
                </a:solidFill>
                <a:latin typeface="Kanit"/>
                <a:ea typeface="Kanit"/>
                <a:cs typeface="Kanit"/>
                <a:sym typeface="Kanit"/>
              </a:rPr>
              <a:t>Scripts de migration</a:t>
            </a:r>
            <a:endParaRPr b="0" i="0" sz="2200" u="none" cap="none" strike="noStrike"/>
          </a:p>
        </p:txBody>
      </p:sp>
      <p:sp>
        <p:nvSpPr>
          <p:cNvPr id="342" name="Google Shape;342;p42"/>
          <p:cNvSpPr/>
          <p:nvPr/>
        </p:nvSpPr>
        <p:spPr>
          <a:xfrm>
            <a:off x="1530906" y="4038243"/>
            <a:ext cx="5670947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None/>
            </a:pP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Ils automatisent la migration et vérifient les ressources.</a:t>
            </a:r>
            <a:endParaRPr b="0" i="0" sz="1750" u="none" cap="none" strike="noStrike"/>
          </a:p>
        </p:txBody>
      </p:sp>
      <p:sp>
        <p:nvSpPr>
          <p:cNvPr id="343" name="Google Shape;343;p42"/>
          <p:cNvSpPr/>
          <p:nvPr/>
        </p:nvSpPr>
        <p:spPr>
          <a:xfrm>
            <a:off x="7428667" y="3547824"/>
            <a:ext cx="510302" cy="510302"/>
          </a:xfrm>
          <a:prstGeom prst="roundRect">
            <a:avLst>
              <a:gd fmla="val 18669" name="adj"/>
            </a:avLst>
          </a:prstGeom>
          <a:solidFill>
            <a:srgbClr val="DFECE9"/>
          </a:solidFill>
          <a:ln cap="flat" cmpd="sng" w="9525">
            <a:solidFill>
              <a:srgbClr val="C5D2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42"/>
          <p:cNvSpPr/>
          <p:nvPr/>
        </p:nvSpPr>
        <p:spPr>
          <a:xfrm>
            <a:off x="7513737" y="3590330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2650"/>
              <a:buFont typeface="Kanit"/>
              <a:buNone/>
            </a:pPr>
            <a:r>
              <a:rPr b="0" i="0" lang="en-US" sz="2650" u="none" cap="none" strike="noStrike">
                <a:solidFill>
                  <a:srgbClr val="2C3249"/>
                </a:solidFill>
                <a:latin typeface="Kanit"/>
                <a:ea typeface="Kanit"/>
                <a:cs typeface="Kanit"/>
                <a:sym typeface="Kanit"/>
              </a:rPr>
              <a:t>2</a:t>
            </a:r>
            <a:endParaRPr b="0" i="0" sz="2650" u="none" cap="none" strike="noStrike"/>
          </a:p>
        </p:txBody>
      </p:sp>
      <p:sp>
        <p:nvSpPr>
          <p:cNvPr id="345" name="Google Shape;345;p42"/>
          <p:cNvSpPr/>
          <p:nvPr/>
        </p:nvSpPr>
        <p:spPr>
          <a:xfrm>
            <a:off x="8165783" y="3547824"/>
            <a:ext cx="3071217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2200"/>
              <a:buFont typeface="Kanit"/>
              <a:buNone/>
            </a:pPr>
            <a:r>
              <a:rPr b="0" i="0" lang="en-US" sz="2200" u="none" cap="none" strike="noStrike">
                <a:solidFill>
                  <a:srgbClr val="2C3249"/>
                </a:solidFill>
                <a:latin typeface="Kanit"/>
                <a:ea typeface="Kanit"/>
                <a:cs typeface="Kanit"/>
                <a:sym typeface="Kanit"/>
              </a:rPr>
              <a:t>Fichiers de configuration</a:t>
            </a:r>
            <a:endParaRPr b="0" i="0" sz="2200" u="none" cap="none" strike="noStrike"/>
          </a:p>
        </p:txBody>
      </p:sp>
      <p:sp>
        <p:nvSpPr>
          <p:cNvPr id="346" name="Google Shape;346;p42"/>
          <p:cNvSpPr/>
          <p:nvPr/>
        </p:nvSpPr>
        <p:spPr>
          <a:xfrm>
            <a:off x="8165783" y="4038243"/>
            <a:ext cx="5670947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None/>
            </a:pP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Ils paramètrent OpenStack et la connexion NFS.</a:t>
            </a:r>
            <a:endParaRPr b="0" i="0" sz="1750" u="none" cap="none" strike="noStrike"/>
          </a:p>
        </p:txBody>
      </p:sp>
      <p:sp>
        <p:nvSpPr>
          <p:cNvPr id="347" name="Google Shape;347;p42"/>
          <p:cNvSpPr/>
          <p:nvPr/>
        </p:nvSpPr>
        <p:spPr>
          <a:xfrm>
            <a:off x="793790" y="5246013"/>
            <a:ext cx="510302" cy="510302"/>
          </a:xfrm>
          <a:prstGeom prst="roundRect">
            <a:avLst>
              <a:gd fmla="val 18669" name="adj"/>
            </a:avLst>
          </a:prstGeom>
          <a:solidFill>
            <a:srgbClr val="DFECE9"/>
          </a:solidFill>
          <a:ln cap="flat" cmpd="sng" w="9525">
            <a:solidFill>
              <a:srgbClr val="C5D2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42"/>
          <p:cNvSpPr/>
          <p:nvPr/>
        </p:nvSpPr>
        <p:spPr>
          <a:xfrm>
            <a:off x="878860" y="5288518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2650"/>
              <a:buFont typeface="Kanit"/>
              <a:buNone/>
            </a:pPr>
            <a:r>
              <a:rPr b="0" i="0" lang="en-US" sz="2650" u="none" cap="none" strike="noStrike">
                <a:solidFill>
                  <a:srgbClr val="2C3249"/>
                </a:solidFill>
                <a:latin typeface="Kanit"/>
                <a:ea typeface="Kanit"/>
                <a:cs typeface="Kanit"/>
                <a:sym typeface="Kanit"/>
              </a:rPr>
              <a:t>3</a:t>
            </a:r>
            <a:endParaRPr b="0" i="0" sz="2650" u="none" cap="none" strike="noStrike"/>
          </a:p>
        </p:txBody>
      </p:sp>
      <p:sp>
        <p:nvSpPr>
          <p:cNvPr id="349" name="Google Shape;349;p42"/>
          <p:cNvSpPr/>
          <p:nvPr/>
        </p:nvSpPr>
        <p:spPr>
          <a:xfrm>
            <a:off x="1530906" y="5246013"/>
            <a:ext cx="2848808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2200"/>
              <a:buFont typeface="Kanit"/>
              <a:buNone/>
            </a:pPr>
            <a:r>
              <a:rPr b="0" i="0" lang="en-US" sz="2200" u="none" cap="none" strike="noStrike">
                <a:solidFill>
                  <a:srgbClr val="2C3249"/>
                </a:solidFill>
                <a:latin typeface="Kanit"/>
                <a:ea typeface="Kanit"/>
                <a:cs typeface="Kanit"/>
                <a:sym typeface="Kanit"/>
              </a:rPr>
              <a:t>Déploiement Kadeploy</a:t>
            </a:r>
            <a:endParaRPr b="0" i="0" sz="2200" u="none" cap="none" strike="noStrike"/>
          </a:p>
        </p:txBody>
      </p:sp>
      <p:sp>
        <p:nvSpPr>
          <p:cNvPr id="350" name="Google Shape;350;p42"/>
          <p:cNvSpPr/>
          <p:nvPr/>
        </p:nvSpPr>
        <p:spPr>
          <a:xfrm>
            <a:off x="1304106" y="6082331"/>
            <a:ext cx="56709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None/>
            </a:pP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Ils déploient un environnement Xen avec Ubuntu.</a:t>
            </a:r>
            <a:endParaRPr b="0" i="0" sz="1750" u="none" cap="none" strike="noStrike"/>
          </a:p>
        </p:txBody>
      </p:sp>
      <p:sp>
        <p:nvSpPr>
          <p:cNvPr id="351" name="Google Shape;351;p42"/>
          <p:cNvSpPr/>
          <p:nvPr/>
        </p:nvSpPr>
        <p:spPr>
          <a:xfrm>
            <a:off x="7428667" y="5246013"/>
            <a:ext cx="510302" cy="510302"/>
          </a:xfrm>
          <a:prstGeom prst="roundRect">
            <a:avLst>
              <a:gd fmla="val 18669" name="adj"/>
            </a:avLst>
          </a:prstGeom>
          <a:solidFill>
            <a:srgbClr val="DFECE9"/>
          </a:solidFill>
          <a:ln cap="flat" cmpd="sng" w="9525">
            <a:solidFill>
              <a:srgbClr val="C5D2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42"/>
          <p:cNvSpPr/>
          <p:nvPr/>
        </p:nvSpPr>
        <p:spPr>
          <a:xfrm>
            <a:off x="7513737" y="5288518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2650"/>
              <a:buFont typeface="Kanit"/>
              <a:buNone/>
            </a:pPr>
            <a:r>
              <a:rPr b="0" i="0" lang="en-US" sz="2650" u="none" cap="none" strike="noStrike">
                <a:solidFill>
                  <a:srgbClr val="2C3249"/>
                </a:solidFill>
                <a:latin typeface="Kanit"/>
                <a:ea typeface="Kanit"/>
                <a:cs typeface="Kanit"/>
                <a:sym typeface="Kanit"/>
              </a:rPr>
              <a:t>4</a:t>
            </a:r>
            <a:endParaRPr b="0" i="0" sz="2650" u="none" cap="none" strike="noStrike"/>
          </a:p>
        </p:txBody>
      </p:sp>
      <p:sp>
        <p:nvSpPr>
          <p:cNvPr id="353" name="Google Shape;353;p42"/>
          <p:cNvSpPr/>
          <p:nvPr/>
        </p:nvSpPr>
        <p:spPr>
          <a:xfrm>
            <a:off x="8165783" y="5246013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2200"/>
              <a:buFont typeface="Kanit"/>
              <a:buNone/>
            </a:pPr>
            <a:r>
              <a:rPr b="0" i="0" lang="en-US" sz="2200" u="none" cap="none" strike="noStrike">
                <a:solidFill>
                  <a:srgbClr val="2C3249"/>
                </a:solidFill>
                <a:latin typeface="Kanit"/>
                <a:ea typeface="Kanit"/>
                <a:cs typeface="Kanit"/>
                <a:sym typeface="Kanit"/>
              </a:rPr>
              <a:t>Logs et scripts</a:t>
            </a:r>
            <a:endParaRPr b="0" i="0" sz="2200" u="none" cap="none" strike="noStrike"/>
          </a:p>
        </p:txBody>
      </p:sp>
      <p:sp>
        <p:nvSpPr>
          <p:cNvPr id="354" name="Google Shape;354;p42"/>
          <p:cNvSpPr/>
          <p:nvPr/>
        </p:nvSpPr>
        <p:spPr>
          <a:xfrm>
            <a:off x="8165783" y="5736431"/>
            <a:ext cx="5670947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None/>
            </a:pP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Ils suivent les performances et valident la migration.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43"/>
          <p:cNvSpPr/>
          <p:nvPr/>
        </p:nvSpPr>
        <p:spPr>
          <a:xfrm>
            <a:off x="629126" y="437917"/>
            <a:ext cx="8999700" cy="5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Inter"/>
              <a:buNone/>
            </a:pPr>
            <a:r>
              <a:rPr b="1" i="0" lang="en-US" sz="35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Scripts Python &amp; Documentation Technique</a:t>
            </a:r>
            <a:endParaRPr b="0" i="0" sz="3500" u="none" cap="none" strike="noStrike"/>
          </a:p>
        </p:txBody>
      </p:sp>
      <p:sp>
        <p:nvSpPr>
          <p:cNvPr id="361" name="Google Shape;361;p43"/>
          <p:cNvSpPr/>
          <p:nvPr/>
        </p:nvSpPr>
        <p:spPr>
          <a:xfrm>
            <a:off x="629126" y="1655802"/>
            <a:ext cx="36306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Inter"/>
              <a:buNone/>
            </a:pPr>
            <a:r>
              <a:rPr b="1" i="0" lang="en-US" sz="17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Scripts Python (Filtres &amp; Wrappers)</a:t>
            </a:r>
            <a:endParaRPr b="0" i="0" sz="1750" u="none" cap="none" strike="noStrike"/>
          </a:p>
        </p:txBody>
      </p:sp>
      <p:sp>
        <p:nvSpPr>
          <p:cNvPr id="362" name="Google Shape;362;p43"/>
          <p:cNvSpPr/>
          <p:nvPr/>
        </p:nvSpPr>
        <p:spPr>
          <a:xfrm>
            <a:off x="629126" y="2396966"/>
            <a:ext cx="6466761" cy="2876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Folks-&gt;approche-metadonne-custom_migration_filter.py</a:t>
            </a:r>
            <a:endParaRPr b="0" i="0" sz="1400" u="none" cap="none" strike="noStrike"/>
          </a:p>
        </p:txBody>
      </p:sp>
      <p:sp>
        <p:nvSpPr>
          <p:cNvPr id="363" name="Google Shape;363;p43"/>
          <p:cNvSpPr/>
          <p:nvPr/>
        </p:nvSpPr>
        <p:spPr>
          <a:xfrm>
            <a:off x="629126" y="2846308"/>
            <a:ext cx="6466761" cy="575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Inter"/>
              <a:buNone/>
            </a:pPr>
            <a:r>
              <a:rPr b="0" i="1" lang="en-US" sz="14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Rôle :</a:t>
            </a:r>
            <a:r>
              <a:rPr b="0" i="0" lang="en-US" sz="14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Filtre avancé basé sur les métadonnées (type de workload, version de Xen).</a:t>
            </a:r>
            <a:endParaRPr b="0" i="0" sz="1400" u="none" cap="none" strike="noStrike"/>
          </a:p>
        </p:txBody>
      </p:sp>
      <p:sp>
        <p:nvSpPr>
          <p:cNvPr id="364" name="Google Shape;364;p43"/>
          <p:cNvSpPr/>
          <p:nvPr/>
        </p:nvSpPr>
        <p:spPr>
          <a:xfrm>
            <a:off x="629126" y="3583305"/>
            <a:ext cx="6466761" cy="2876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Inter"/>
              <a:buNone/>
            </a:pPr>
            <a:r>
              <a:rPr b="0" i="1" lang="en-US" sz="14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Importance :</a:t>
            </a:r>
            <a:r>
              <a:rPr b="0" i="0" lang="en-US" sz="14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Améliore la précision du scheduler et la compatibilité hyperviseur.</a:t>
            </a:r>
            <a:endParaRPr b="0" i="0" sz="1400" u="none" cap="none" strike="noStrike"/>
          </a:p>
        </p:txBody>
      </p:sp>
      <p:sp>
        <p:nvSpPr>
          <p:cNvPr id="365" name="Google Shape;365;p43"/>
          <p:cNvSpPr/>
          <p:nvPr/>
        </p:nvSpPr>
        <p:spPr>
          <a:xfrm>
            <a:off x="629126" y="4113497"/>
            <a:ext cx="64668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xen_compatibility_filter.py</a:t>
            </a:r>
            <a:endParaRPr b="0" i="0" sz="1400" u="none" cap="none" strike="noStrike"/>
          </a:p>
        </p:txBody>
      </p:sp>
      <p:sp>
        <p:nvSpPr>
          <p:cNvPr id="366" name="Google Shape;366;p43"/>
          <p:cNvSpPr/>
          <p:nvPr/>
        </p:nvSpPr>
        <p:spPr>
          <a:xfrm>
            <a:off x="629126" y="4481989"/>
            <a:ext cx="6466761" cy="2876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Inter"/>
              <a:buNone/>
            </a:pPr>
            <a:r>
              <a:rPr b="0" i="1" lang="en-US" sz="14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Rôle :</a:t>
            </a:r>
            <a:r>
              <a:rPr b="0" i="0" lang="en-US" sz="14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Vérifie la configuration matérielle (extensions CPU, réseau) pour Xen.</a:t>
            </a:r>
            <a:endParaRPr b="0" i="0" sz="1400" u="none" cap="none" strike="noStrike"/>
          </a:p>
        </p:txBody>
      </p:sp>
      <p:sp>
        <p:nvSpPr>
          <p:cNvPr id="367" name="Google Shape;367;p43"/>
          <p:cNvSpPr/>
          <p:nvPr/>
        </p:nvSpPr>
        <p:spPr>
          <a:xfrm>
            <a:off x="629126" y="4931331"/>
            <a:ext cx="6466761" cy="2876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Inter"/>
              <a:buNone/>
            </a:pPr>
            <a:r>
              <a:rPr b="0" i="1" lang="en-US" sz="14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Importance :</a:t>
            </a:r>
            <a:r>
              <a:rPr b="0" i="0" lang="en-US" sz="14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Évite d'initier une migration vouée à l'échec (incompatibilité).</a:t>
            </a:r>
            <a:endParaRPr b="0" i="0" sz="1400" u="none" cap="none" strike="noStrike"/>
          </a:p>
        </p:txBody>
      </p:sp>
      <p:sp>
        <p:nvSpPr>
          <p:cNvPr id="368" name="Google Shape;368;p43"/>
          <p:cNvSpPr/>
          <p:nvPr/>
        </p:nvSpPr>
        <p:spPr>
          <a:xfrm>
            <a:off x="629126" y="5380673"/>
            <a:ext cx="6466761" cy="2876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wrapper_cli_extra.py / Wrapper CLI Openstack.py</a:t>
            </a:r>
            <a:endParaRPr b="0" i="0" sz="1400" u="none" cap="none" strike="noStrike"/>
          </a:p>
        </p:txBody>
      </p:sp>
      <p:sp>
        <p:nvSpPr>
          <p:cNvPr id="369" name="Google Shape;369;p43"/>
          <p:cNvSpPr/>
          <p:nvPr/>
        </p:nvSpPr>
        <p:spPr>
          <a:xfrm>
            <a:off x="629126" y="5830014"/>
            <a:ext cx="6466761" cy="575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Inter"/>
              <a:buNone/>
            </a:pPr>
            <a:r>
              <a:rPr b="0" i="1" lang="en-US" sz="14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Rôle :</a:t>
            </a:r>
            <a:r>
              <a:rPr b="0" i="0" lang="en-US" sz="14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Automatisation et simplification des commandes OpenStack (nova, glance).</a:t>
            </a:r>
            <a:endParaRPr b="0" i="0" sz="1400" u="none" cap="none" strike="noStrike"/>
          </a:p>
        </p:txBody>
      </p:sp>
      <p:sp>
        <p:nvSpPr>
          <p:cNvPr id="370" name="Google Shape;370;p43"/>
          <p:cNvSpPr/>
          <p:nvPr/>
        </p:nvSpPr>
        <p:spPr>
          <a:xfrm>
            <a:off x="629126" y="6567011"/>
            <a:ext cx="6466761" cy="575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Inter"/>
              <a:buNone/>
            </a:pPr>
            <a:r>
              <a:rPr b="0" i="1" lang="en-US" sz="14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Importance :</a:t>
            </a:r>
            <a:r>
              <a:rPr b="0" i="0" lang="en-US" sz="14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Standardise le lancement des migrations et limite les erreurs humaines.</a:t>
            </a:r>
            <a:endParaRPr b="0" i="0" sz="1400" u="none" cap="none" strike="noStrike"/>
          </a:p>
        </p:txBody>
      </p:sp>
      <p:sp>
        <p:nvSpPr>
          <p:cNvPr id="371" name="Google Shape;371;p43"/>
          <p:cNvSpPr/>
          <p:nvPr/>
        </p:nvSpPr>
        <p:spPr>
          <a:xfrm>
            <a:off x="7468983" y="1666877"/>
            <a:ext cx="25653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Inter"/>
              <a:buNone/>
            </a:pPr>
            <a:r>
              <a:rPr b="1" i="0" lang="en-US" sz="17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Documentation &amp; Guides</a:t>
            </a:r>
            <a:endParaRPr b="0" i="0" sz="1750" u="none" cap="none" strike="noStrike"/>
          </a:p>
        </p:txBody>
      </p:sp>
      <p:sp>
        <p:nvSpPr>
          <p:cNvPr id="372" name="Google Shape;372;p43"/>
          <p:cNvSpPr/>
          <p:nvPr/>
        </p:nvSpPr>
        <p:spPr>
          <a:xfrm>
            <a:off x="7542133" y="2396966"/>
            <a:ext cx="6466761" cy="2876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dossier chargement KVM en Xen + intro live migration.md</a:t>
            </a:r>
            <a:endParaRPr b="0" i="0" sz="1400" u="none" cap="none" strike="noStrike"/>
          </a:p>
        </p:txBody>
      </p:sp>
      <p:sp>
        <p:nvSpPr>
          <p:cNvPr id="373" name="Google Shape;373;p43"/>
          <p:cNvSpPr/>
          <p:nvPr/>
        </p:nvSpPr>
        <p:spPr>
          <a:xfrm>
            <a:off x="7542133" y="2846308"/>
            <a:ext cx="6466761" cy="2876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Inter"/>
              <a:buNone/>
            </a:pPr>
            <a:r>
              <a:rPr b="0" i="1" lang="en-US" sz="14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Rôle :</a:t>
            </a:r>
            <a:r>
              <a:rPr b="0" i="0" lang="en-US" sz="14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Explique la transition de KVM à Xen, les concepts de migration live.</a:t>
            </a:r>
            <a:endParaRPr b="0" i="0" sz="1400" u="none" cap="none" strike="noStrike"/>
          </a:p>
        </p:txBody>
      </p:sp>
      <p:sp>
        <p:nvSpPr>
          <p:cNvPr id="374" name="Google Shape;374;p43"/>
          <p:cNvSpPr/>
          <p:nvPr/>
        </p:nvSpPr>
        <p:spPr>
          <a:xfrm>
            <a:off x="7542133" y="3295650"/>
            <a:ext cx="6466761" cy="2876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guide installation OPENSTACK SUR GRID5000.md</a:t>
            </a:r>
            <a:endParaRPr b="0" i="0" sz="1400" u="none" cap="none" strike="noStrike"/>
          </a:p>
        </p:txBody>
      </p:sp>
      <p:sp>
        <p:nvSpPr>
          <p:cNvPr id="375" name="Google Shape;375;p43"/>
          <p:cNvSpPr/>
          <p:nvPr/>
        </p:nvSpPr>
        <p:spPr>
          <a:xfrm>
            <a:off x="7542133" y="3744992"/>
            <a:ext cx="6466761" cy="575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Inter"/>
              <a:buNone/>
            </a:pPr>
            <a:r>
              <a:rPr b="0" i="1" lang="en-US" sz="14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Rôle :</a:t>
            </a:r>
            <a:r>
              <a:rPr b="0" i="0" lang="en-US" sz="14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Décrit le déploiement complet d'OpenStack sur GRID5000 (VLAN, NFS, etc.).</a:t>
            </a:r>
            <a:endParaRPr b="0" i="0" sz="1400" u="none" cap="none" strike="noStrike"/>
          </a:p>
        </p:txBody>
      </p:sp>
      <p:sp>
        <p:nvSpPr>
          <p:cNvPr id="376" name="Google Shape;376;p43"/>
          <p:cNvSpPr/>
          <p:nvPr/>
        </p:nvSpPr>
        <p:spPr>
          <a:xfrm>
            <a:off x="7542133" y="4481989"/>
            <a:ext cx="6466761" cy="2876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script migration CONTROLLER.md</a:t>
            </a:r>
            <a:endParaRPr b="0" i="0" sz="1400" u="none" cap="none" strike="noStrike"/>
          </a:p>
        </p:txBody>
      </p:sp>
      <p:sp>
        <p:nvSpPr>
          <p:cNvPr id="377" name="Google Shape;377;p43"/>
          <p:cNvSpPr/>
          <p:nvPr/>
        </p:nvSpPr>
        <p:spPr>
          <a:xfrm>
            <a:off x="7542133" y="4931331"/>
            <a:ext cx="6466761" cy="2876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Inter"/>
              <a:buNone/>
            </a:pPr>
            <a:r>
              <a:rPr b="0" i="1" lang="en-US" sz="14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Rôle :</a:t>
            </a:r>
            <a:r>
              <a:rPr b="0" i="0" lang="en-US" sz="14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Centralise les étapes à exécuter côté contrôleur pour initier la migration.</a:t>
            </a:r>
            <a:endParaRPr b="0" i="0" sz="1400" u="none" cap="none" strike="noStrike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44"/>
          <p:cNvSpPr/>
          <p:nvPr/>
        </p:nvSpPr>
        <p:spPr>
          <a:xfrm>
            <a:off x="2398524" y="331825"/>
            <a:ext cx="82329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50"/>
              <a:buFont typeface="Inter"/>
              <a:buNone/>
            </a:pPr>
            <a:r>
              <a:rPr b="1" i="0" lang="en-US" sz="36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Vision d'Ensemble &amp; Conclusion</a:t>
            </a:r>
            <a:endParaRPr b="0" i="0" sz="3650" u="none" cap="none" strike="noStrike"/>
          </a:p>
        </p:txBody>
      </p:sp>
      <p:pic>
        <p:nvPicPr>
          <p:cNvPr descr="preencoded.png" id="384" name="Google Shape;384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5082" y="1473994"/>
            <a:ext cx="935950" cy="1123117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44"/>
          <p:cNvSpPr/>
          <p:nvPr/>
        </p:nvSpPr>
        <p:spPr>
          <a:xfrm>
            <a:off x="1871773" y="1474000"/>
            <a:ext cx="3614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Intégration avec Nova / Xen</a:t>
            </a:r>
            <a:endParaRPr b="0" i="0" sz="1800" u="none" cap="none" strike="noStrike"/>
          </a:p>
        </p:txBody>
      </p:sp>
      <p:sp>
        <p:nvSpPr>
          <p:cNvPr id="386" name="Google Shape;386;p44"/>
          <p:cNvSpPr/>
          <p:nvPr/>
        </p:nvSpPr>
        <p:spPr>
          <a:xfrm>
            <a:off x="1871782" y="2065853"/>
            <a:ext cx="12103537" cy="2994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Inter"/>
              <a:buNone/>
            </a:pPr>
            <a:r>
              <a:rPr b="0" i="0" lang="en-US" sz="14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Les filtres et scripts dialoguent avec Xen (via XenAPI) et Nova (scheduler, migrations).</a:t>
            </a:r>
            <a:endParaRPr b="0" i="0" sz="1450" u="none" cap="none" strike="noStrike"/>
          </a:p>
        </p:txBody>
      </p:sp>
      <p:pic>
        <p:nvPicPr>
          <p:cNvPr descr="preencoded.png" id="387" name="Google Shape;387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5082" y="2597110"/>
            <a:ext cx="935950" cy="1123117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44"/>
          <p:cNvSpPr/>
          <p:nvPr/>
        </p:nvSpPr>
        <p:spPr>
          <a:xfrm>
            <a:off x="1884748" y="2630925"/>
            <a:ext cx="3504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Automatisation &amp; Fiabilité</a:t>
            </a:r>
            <a:endParaRPr b="0" i="0" sz="1800" u="none" cap="none" strike="noStrike"/>
          </a:p>
        </p:txBody>
      </p:sp>
      <p:sp>
        <p:nvSpPr>
          <p:cNvPr id="389" name="Google Shape;389;p44"/>
          <p:cNvSpPr/>
          <p:nvPr/>
        </p:nvSpPr>
        <p:spPr>
          <a:xfrm>
            <a:off x="1871782" y="3188970"/>
            <a:ext cx="12103537" cy="2994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Inter"/>
              <a:buNone/>
            </a:pPr>
            <a:r>
              <a:rPr b="0" i="0" lang="en-US" sz="14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Scripts Shell/Python pour réduire les interventions manuelles et fiabiliser le processus.</a:t>
            </a:r>
            <a:endParaRPr b="0" i="0" sz="1450" u="none" cap="none" strike="noStrike"/>
          </a:p>
        </p:txBody>
      </p:sp>
      <p:pic>
        <p:nvPicPr>
          <p:cNvPr descr="preencoded.png" id="390" name="Google Shape;390;p4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5082" y="3720227"/>
            <a:ext cx="935950" cy="1123117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44"/>
          <p:cNvSpPr/>
          <p:nvPr/>
        </p:nvSpPr>
        <p:spPr>
          <a:xfrm>
            <a:off x="1871772" y="3907400"/>
            <a:ext cx="3760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Documentation Complète</a:t>
            </a:r>
            <a:endParaRPr b="0" i="0" sz="1800" u="none" cap="none" strike="noStrike"/>
          </a:p>
        </p:txBody>
      </p:sp>
      <p:sp>
        <p:nvSpPr>
          <p:cNvPr id="392" name="Google Shape;392;p44"/>
          <p:cNvSpPr/>
          <p:nvPr/>
        </p:nvSpPr>
        <p:spPr>
          <a:xfrm>
            <a:off x="1871782" y="4312087"/>
            <a:ext cx="12103537" cy="2994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Inter"/>
              <a:buNone/>
            </a:pPr>
            <a:r>
              <a:rPr b="0" i="0" lang="en-US" sz="14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Fichiers .md et .json/.csv : configuration centralisée, règles de migration, pas-à-pas d'installation.</a:t>
            </a:r>
            <a:endParaRPr b="0" i="0" sz="1450" u="none" cap="none" strike="noStrike"/>
          </a:p>
        </p:txBody>
      </p:sp>
      <p:pic>
        <p:nvPicPr>
          <p:cNvPr descr="preencoded.png" id="393" name="Google Shape;393;p4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5082" y="4843343"/>
            <a:ext cx="935950" cy="1123117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44"/>
          <p:cNvSpPr/>
          <p:nvPr/>
        </p:nvSpPr>
        <p:spPr>
          <a:xfrm>
            <a:off x="1871774" y="5030500"/>
            <a:ext cx="5187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Focus sur la Migration (Intra &amp; Extra-cluster)</a:t>
            </a:r>
            <a:endParaRPr b="0" i="0" sz="1800" u="none" cap="none" strike="noStrike"/>
          </a:p>
        </p:txBody>
      </p:sp>
      <p:sp>
        <p:nvSpPr>
          <p:cNvPr id="395" name="Google Shape;395;p44"/>
          <p:cNvSpPr/>
          <p:nvPr/>
        </p:nvSpPr>
        <p:spPr>
          <a:xfrm>
            <a:off x="1871782" y="5435203"/>
            <a:ext cx="12103537" cy="2994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Inter"/>
              <a:buNone/>
            </a:pPr>
            <a:r>
              <a:rPr b="0" i="0" lang="en-US" sz="14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Scénarios divers (même cluster, clusters distincts) gérés via règles et scripts adaptés.</a:t>
            </a:r>
            <a:endParaRPr b="0" i="0" sz="1450" u="none" cap="none" strike="noStrike"/>
          </a:p>
        </p:txBody>
      </p:sp>
      <p:sp>
        <p:nvSpPr>
          <p:cNvPr id="396" name="Google Shape;396;p44"/>
          <p:cNvSpPr/>
          <p:nvPr/>
        </p:nvSpPr>
        <p:spPr>
          <a:xfrm>
            <a:off x="655082" y="6176963"/>
            <a:ext cx="13320236" cy="2994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Inter"/>
              <a:buNone/>
            </a:pPr>
            <a:r>
              <a:rPr b="1" i="0" lang="en-US" sz="14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Bénéfices :</a:t>
            </a:r>
            <a:endParaRPr b="0" i="0" sz="1450" u="none" cap="none" strike="noStrike"/>
          </a:p>
        </p:txBody>
      </p:sp>
      <p:sp>
        <p:nvSpPr>
          <p:cNvPr id="397" name="Google Shape;397;p44"/>
          <p:cNvSpPr/>
          <p:nvPr/>
        </p:nvSpPr>
        <p:spPr>
          <a:xfrm>
            <a:off x="655082" y="6686907"/>
            <a:ext cx="13320236" cy="2994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Inter"/>
              <a:buNone/>
            </a:pPr>
            <a:r>
              <a:rPr b="1" i="0" lang="en-US" sz="14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Réduction du risque d'erreur</a:t>
            </a:r>
            <a:r>
              <a:rPr b="0" i="0" lang="en-US" sz="14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, grâce à la vérification automatique et aux filtres de compatibilité.</a:t>
            </a:r>
            <a:endParaRPr b="0" i="0" sz="1450" u="none" cap="none" strike="noStrike"/>
          </a:p>
        </p:txBody>
      </p:sp>
      <p:sp>
        <p:nvSpPr>
          <p:cNvPr id="398" name="Google Shape;398;p44"/>
          <p:cNvSpPr/>
          <p:nvPr/>
        </p:nvSpPr>
        <p:spPr>
          <a:xfrm>
            <a:off x="655082" y="7051834"/>
            <a:ext cx="13320236" cy="2994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Inter"/>
              <a:buNone/>
            </a:pPr>
            <a:r>
              <a:rPr b="1" i="0" lang="en-US" sz="14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Déploiement reproductible</a:t>
            </a:r>
            <a:r>
              <a:rPr b="0" i="0" lang="en-US" sz="14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, aidé par des guides techniques précis (GRID5000, Xen, OpenStack).</a:t>
            </a:r>
            <a:endParaRPr b="0" i="0" sz="1450" u="none" cap="none" strike="noStrike"/>
          </a:p>
        </p:txBody>
      </p:sp>
      <p:sp>
        <p:nvSpPr>
          <p:cNvPr id="399" name="Google Shape;399;p44"/>
          <p:cNvSpPr/>
          <p:nvPr/>
        </p:nvSpPr>
        <p:spPr>
          <a:xfrm>
            <a:off x="655082" y="7416760"/>
            <a:ext cx="13320236" cy="2994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Inter"/>
              <a:buNone/>
            </a:pPr>
            <a:r>
              <a:rPr b="1" i="0" lang="en-US" sz="14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Performance et flexibilité</a:t>
            </a:r>
            <a:r>
              <a:rPr b="0" i="0" lang="en-US" sz="14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, avec un pilotage fin de la migration (intra/extra-cluster).</a:t>
            </a:r>
            <a:endParaRPr b="0" i="0" sz="1450" u="none" cap="none" strike="noStrike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45"/>
          <p:cNvSpPr/>
          <p:nvPr/>
        </p:nvSpPr>
        <p:spPr>
          <a:xfrm>
            <a:off x="2793303" y="2409150"/>
            <a:ext cx="104451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72D45"/>
              </a:buClr>
              <a:buSzPts val="4450"/>
              <a:buFont typeface="Kanit"/>
              <a:buNone/>
            </a:pPr>
            <a:r>
              <a:rPr b="0" i="0" lang="en-US" sz="4450" u="none" cap="none" strike="noStrike">
                <a:solidFill>
                  <a:srgbClr val="272D45"/>
                </a:solidFill>
                <a:latin typeface="Kanit"/>
                <a:ea typeface="Kanit"/>
                <a:cs typeface="Kanit"/>
                <a:sym typeface="Kanit"/>
              </a:rPr>
              <a:t>Retour d’Expérience et Évolution</a:t>
            </a:r>
            <a:endParaRPr b="0" i="0" sz="4450" u="none" cap="none" strike="noStrike"/>
          </a:p>
        </p:txBody>
      </p:sp>
      <p:sp>
        <p:nvSpPr>
          <p:cNvPr id="406" name="Google Shape;406;p45"/>
          <p:cNvSpPr/>
          <p:nvPr/>
        </p:nvSpPr>
        <p:spPr>
          <a:xfrm>
            <a:off x="793790" y="4033957"/>
            <a:ext cx="510302" cy="510302"/>
          </a:xfrm>
          <a:prstGeom prst="roundRect">
            <a:avLst>
              <a:gd fmla="val 18669" name="adj"/>
            </a:avLst>
          </a:prstGeom>
          <a:solidFill>
            <a:srgbClr val="DFECE9"/>
          </a:solidFill>
          <a:ln cap="flat" cmpd="sng" w="9525">
            <a:solidFill>
              <a:srgbClr val="C5D2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45"/>
          <p:cNvSpPr/>
          <p:nvPr/>
        </p:nvSpPr>
        <p:spPr>
          <a:xfrm>
            <a:off x="878860" y="4076462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2650"/>
              <a:buFont typeface="Kanit"/>
              <a:buNone/>
            </a:pPr>
            <a:r>
              <a:rPr b="0" i="0" lang="en-US" sz="2650" u="none" cap="none" strike="noStrike">
                <a:solidFill>
                  <a:srgbClr val="2C3249"/>
                </a:solidFill>
                <a:latin typeface="Kanit"/>
                <a:ea typeface="Kanit"/>
                <a:cs typeface="Kanit"/>
                <a:sym typeface="Kanit"/>
              </a:rPr>
              <a:t>1</a:t>
            </a:r>
            <a:endParaRPr b="0" i="0" sz="2650" u="none" cap="none" strike="noStrike"/>
          </a:p>
        </p:txBody>
      </p:sp>
      <p:sp>
        <p:nvSpPr>
          <p:cNvPr id="408" name="Google Shape;408;p45"/>
          <p:cNvSpPr/>
          <p:nvPr/>
        </p:nvSpPr>
        <p:spPr>
          <a:xfrm>
            <a:off x="1530906" y="4033957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2200"/>
              <a:buFont typeface="Kanit"/>
              <a:buNone/>
            </a:pPr>
            <a:r>
              <a:rPr b="0" i="0" lang="en-US" sz="2200" u="none" cap="none" strike="noStrike">
                <a:solidFill>
                  <a:srgbClr val="2C3249"/>
                </a:solidFill>
                <a:latin typeface="Kanit"/>
                <a:ea typeface="Kanit"/>
                <a:cs typeface="Kanit"/>
                <a:sym typeface="Kanit"/>
              </a:rPr>
              <a:t>Points Forts</a:t>
            </a:r>
            <a:endParaRPr b="0" i="0" sz="2200" u="none" cap="none" strike="noStrike"/>
          </a:p>
        </p:txBody>
      </p:sp>
      <p:sp>
        <p:nvSpPr>
          <p:cNvPr id="409" name="Google Shape;409;p45"/>
          <p:cNvSpPr/>
          <p:nvPr/>
        </p:nvSpPr>
        <p:spPr>
          <a:xfrm>
            <a:off x="1530906" y="4524375"/>
            <a:ext cx="3459242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None/>
            </a:pP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Migration réussie et intégration d'OpenStack sur GRID5000 avec Xen.</a:t>
            </a:r>
            <a:endParaRPr b="0" i="0" sz="1750" u="none" cap="none" strike="noStrike"/>
          </a:p>
        </p:txBody>
      </p:sp>
      <p:sp>
        <p:nvSpPr>
          <p:cNvPr id="410" name="Google Shape;410;p45"/>
          <p:cNvSpPr/>
          <p:nvPr/>
        </p:nvSpPr>
        <p:spPr>
          <a:xfrm>
            <a:off x="5216962" y="4033957"/>
            <a:ext cx="510302" cy="510302"/>
          </a:xfrm>
          <a:prstGeom prst="roundRect">
            <a:avLst>
              <a:gd fmla="val 18669" name="adj"/>
            </a:avLst>
          </a:prstGeom>
          <a:solidFill>
            <a:srgbClr val="DFECE9"/>
          </a:solidFill>
          <a:ln cap="flat" cmpd="sng" w="9525">
            <a:solidFill>
              <a:srgbClr val="C5D2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45"/>
          <p:cNvSpPr/>
          <p:nvPr/>
        </p:nvSpPr>
        <p:spPr>
          <a:xfrm>
            <a:off x="5302032" y="4076462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2650"/>
              <a:buFont typeface="Kanit"/>
              <a:buNone/>
            </a:pPr>
            <a:r>
              <a:rPr b="0" i="0" lang="en-US" sz="2650" u="none" cap="none" strike="noStrike">
                <a:solidFill>
                  <a:srgbClr val="2C3249"/>
                </a:solidFill>
                <a:latin typeface="Kanit"/>
                <a:ea typeface="Kanit"/>
                <a:cs typeface="Kanit"/>
                <a:sym typeface="Kanit"/>
              </a:rPr>
              <a:t>2</a:t>
            </a:r>
            <a:endParaRPr b="0" i="0" sz="2650" u="none" cap="none" strike="noStrike"/>
          </a:p>
        </p:txBody>
      </p:sp>
      <p:sp>
        <p:nvSpPr>
          <p:cNvPr id="412" name="Google Shape;412;p45"/>
          <p:cNvSpPr/>
          <p:nvPr/>
        </p:nvSpPr>
        <p:spPr>
          <a:xfrm>
            <a:off x="5954078" y="4033957"/>
            <a:ext cx="2988112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2200"/>
              <a:buFont typeface="Kanit"/>
              <a:buNone/>
            </a:pPr>
            <a:r>
              <a:rPr b="0" i="0" lang="en-US" sz="2200" u="none" cap="none" strike="noStrike">
                <a:solidFill>
                  <a:srgbClr val="2C3249"/>
                </a:solidFill>
                <a:latin typeface="Kanit"/>
                <a:ea typeface="Kanit"/>
                <a:cs typeface="Kanit"/>
                <a:sym typeface="Kanit"/>
              </a:rPr>
              <a:t>Automatisation Efficace</a:t>
            </a:r>
            <a:endParaRPr b="0" i="0" sz="2200" u="none" cap="none" strike="noStrike"/>
          </a:p>
        </p:txBody>
      </p:sp>
      <p:sp>
        <p:nvSpPr>
          <p:cNvPr id="413" name="Google Shape;413;p45"/>
          <p:cNvSpPr/>
          <p:nvPr/>
        </p:nvSpPr>
        <p:spPr>
          <a:xfrm>
            <a:off x="5954078" y="4524375"/>
            <a:ext cx="3459242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None/>
            </a:pP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Gestion centralisée des images grâce au NFS et Kadeploy.</a:t>
            </a:r>
            <a:endParaRPr b="0" i="0" sz="1750" u="none" cap="none" strike="noStrike"/>
          </a:p>
        </p:txBody>
      </p:sp>
      <p:sp>
        <p:nvSpPr>
          <p:cNvPr id="414" name="Google Shape;414;p45"/>
          <p:cNvSpPr/>
          <p:nvPr/>
        </p:nvSpPr>
        <p:spPr>
          <a:xfrm>
            <a:off x="9640133" y="4033957"/>
            <a:ext cx="510302" cy="510302"/>
          </a:xfrm>
          <a:prstGeom prst="roundRect">
            <a:avLst>
              <a:gd fmla="val 18669" name="adj"/>
            </a:avLst>
          </a:prstGeom>
          <a:solidFill>
            <a:srgbClr val="DFECE9"/>
          </a:solidFill>
          <a:ln cap="flat" cmpd="sng" w="9525">
            <a:solidFill>
              <a:srgbClr val="C5D2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45"/>
          <p:cNvSpPr/>
          <p:nvPr/>
        </p:nvSpPr>
        <p:spPr>
          <a:xfrm>
            <a:off x="9725204" y="4076462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2650"/>
              <a:buFont typeface="Kanit"/>
              <a:buNone/>
            </a:pPr>
            <a:r>
              <a:rPr b="0" i="0" lang="en-US" sz="2650" u="none" cap="none" strike="noStrike">
                <a:solidFill>
                  <a:srgbClr val="2C3249"/>
                </a:solidFill>
                <a:latin typeface="Kanit"/>
                <a:ea typeface="Kanit"/>
                <a:cs typeface="Kanit"/>
                <a:sym typeface="Kanit"/>
              </a:rPr>
              <a:t>3</a:t>
            </a:r>
            <a:endParaRPr b="0" i="0" sz="2650" u="none" cap="none" strike="noStrike"/>
          </a:p>
        </p:txBody>
      </p:sp>
      <p:sp>
        <p:nvSpPr>
          <p:cNvPr id="416" name="Google Shape;416;p45"/>
          <p:cNvSpPr/>
          <p:nvPr/>
        </p:nvSpPr>
        <p:spPr>
          <a:xfrm>
            <a:off x="10377249" y="4033957"/>
            <a:ext cx="2861191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2200"/>
              <a:buFont typeface="Kanit"/>
              <a:buNone/>
            </a:pPr>
            <a:r>
              <a:rPr b="0" i="0" lang="en-US" sz="2200" u="none" cap="none" strike="noStrike">
                <a:solidFill>
                  <a:srgbClr val="2C3249"/>
                </a:solidFill>
                <a:latin typeface="Kanit"/>
                <a:ea typeface="Kanit"/>
                <a:cs typeface="Kanit"/>
                <a:sym typeface="Kanit"/>
              </a:rPr>
              <a:t>Difficultés Rencontrées</a:t>
            </a:r>
            <a:endParaRPr b="0" i="0" sz="2200" u="none" cap="none" strike="noStrike"/>
          </a:p>
        </p:txBody>
      </p:sp>
      <p:sp>
        <p:nvSpPr>
          <p:cNvPr id="417" name="Google Shape;417;p45"/>
          <p:cNvSpPr/>
          <p:nvPr/>
        </p:nvSpPr>
        <p:spPr>
          <a:xfrm>
            <a:off x="10377249" y="4524375"/>
            <a:ext cx="3459242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None/>
            </a:pP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Adaptation de Xen et ajustements des scripts de synchronisation.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2" name="Google Shape;422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1"/>
            <a:ext cx="14612399" cy="8219453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46"/>
          <p:cNvSpPr txBox="1"/>
          <p:nvPr>
            <p:ph type="title"/>
          </p:nvPr>
        </p:nvSpPr>
        <p:spPr>
          <a:xfrm>
            <a:off x="2635121" y="1026680"/>
            <a:ext cx="9016320" cy="1488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65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0">
                <a:solidFill>
                  <a:srgbClr val="27316F"/>
                </a:solidFill>
              </a:rPr>
              <a:t>Thanks!</a:t>
            </a:r>
            <a:endParaRPr sz="9600"/>
          </a:p>
        </p:txBody>
      </p:sp>
      <p:sp>
        <p:nvSpPr>
          <p:cNvPr id="424" name="Google Shape;424;p46"/>
          <p:cNvSpPr txBox="1"/>
          <p:nvPr/>
        </p:nvSpPr>
        <p:spPr>
          <a:xfrm>
            <a:off x="1987078" y="2704874"/>
            <a:ext cx="7100640" cy="183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150">
            <a:spAutoFit/>
          </a:bodyPr>
          <a:lstStyle/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FBBC00"/>
                </a:solidFill>
                <a:latin typeface="Verdana"/>
                <a:ea typeface="Verdana"/>
                <a:cs typeface="Verdana"/>
                <a:sym typeface="Verdana"/>
              </a:rPr>
              <a:t>Do you have any questions</a:t>
            </a:r>
            <a:r>
              <a:rPr lang="en-US" sz="2600">
                <a:solidFill>
                  <a:srgbClr val="FBBC00"/>
                </a:solidFill>
                <a:latin typeface="Verdana"/>
                <a:ea typeface="Verdana"/>
                <a:cs typeface="Verdana"/>
                <a:sym typeface="Verdana"/>
              </a:rPr>
              <a:t>? </a:t>
            </a:r>
            <a:r>
              <a:rPr lang="en-US" sz="2600" u="sng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  <a:hlinkClick r:id="rId4"/>
              </a:rPr>
              <a:t>berger-ghislain.theubo@grenoble-inp.org</a:t>
            </a:r>
            <a:endParaRPr sz="26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27316F"/>
                </a:solidFill>
                <a:latin typeface="Verdana"/>
                <a:ea typeface="Verdana"/>
                <a:cs typeface="Verdana"/>
                <a:sym typeface="Verdana"/>
              </a:rPr>
              <a:t>+33 0682866279</a:t>
            </a:r>
            <a:endParaRPr sz="26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838200" rtl="0" algn="l">
              <a:lnSpc>
                <a:spcPct val="1453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